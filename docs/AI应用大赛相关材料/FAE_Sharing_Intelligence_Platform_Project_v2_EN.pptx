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1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871" r:id="rId5"/>
    <p:sldId id="868" r:id="rId6"/>
    <p:sldId id="879" r:id="rId7"/>
    <p:sldId id="880" r:id="rId16"/>
    <p:sldId id="881" r:id="rId17"/>
    <p:sldId id="874" r:id="rId8"/>
  </p:sldIdLst>
  <p:sldSz cx="12190413" cy="6859588"/>
  <p:notesSz cx="6669088" cy="9926638"/>
  <p:defaultTextStyle>
    <a:defPPr>
      <a:defRPr lang="zh-CN"/>
    </a:defPPr>
    <a:lvl1pPr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2925" indent="-1587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7755" indent="-3492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0680" indent="-5270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4875" indent="-7175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ectel 2026" id="{190D97DF-03AA-4C6F-980D-CE28F817B3D2}">
          <p14:sldIdLst>
            <p14:sldId id="871"/>
            <p14:sldId id="868"/>
            <p14:sldId id="879"/>
            <p14:sldId id="8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4" pos="3817" userDrawn="1">
          <p15:clr>
            <a:srgbClr val="A4A3A4"/>
          </p15:clr>
        </p15:guide>
        <p15:guide id="5" orient="horz" pos="3748" userDrawn="1">
          <p15:clr>
            <a:srgbClr val="A4A3A4"/>
          </p15:clr>
        </p15:guide>
        <p15:guide id="6" pos="301" userDrawn="1">
          <p15:clr>
            <a:srgbClr val="A4A3A4"/>
          </p15:clr>
        </p15:guide>
        <p15:guide id="7" orient="horz" pos="5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2" name="作者" initials="A" lastIdx="0" clrIdx="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078"/>
    <a:srgbClr val="00AEEF"/>
    <a:srgbClr val="1D9767"/>
    <a:srgbClr val="44546A"/>
    <a:srgbClr val="006699"/>
    <a:srgbClr val="226178"/>
    <a:srgbClr val="210079"/>
    <a:srgbClr val="FA0505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24" y="96"/>
      </p:cViewPr>
      <p:guideLst>
        <p:guide orient="horz" pos="1117"/>
        <p:guide pos="7196"/>
        <p:guide pos="3817"/>
        <p:guide orient="horz" pos="3748"/>
        <p:guide pos="301"/>
        <p:guide orient="horz" pos="5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04" y="93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3CD29-9E38-4A88-B9C5-3092AFA2C3A8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7B1E7-E99B-4E36-B939-DD0932D99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466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5300"/>
          </a:xfrm>
          <a:prstGeom prst="rect">
            <a:avLst/>
          </a:prstGeom>
        </p:spPr>
        <p:txBody>
          <a:bodyPr vert="horz" lIns="94829" tIns="47414" rIns="94829" bIns="47414" rtlCol="0"/>
          <a:lstStyle>
            <a:lvl1pPr algn="l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4829" tIns="47414" rIns="94829" bIns="47414" rtlCol="0"/>
          <a:lstStyle>
            <a:lvl1pPr algn="r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0C3A6B0-5D57-4D84-9807-DD13F365EB9E}" type="datetimeFigureOut">
              <a:rPr lang="zh-CN" altLang="en-US"/>
              <a:t>2026/7/15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29" tIns="47414" rIns="94829" bIns="4741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4829" tIns="47414" rIns="94829" bIns="4741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5300"/>
          </a:xfrm>
          <a:prstGeom prst="rect">
            <a:avLst/>
          </a:prstGeom>
        </p:spPr>
        <p:txBody>
          <a:bodyPr vert="horz" lIns="94829" tIns="47414" rIns="94829" bIns="47414" rtlCol="0" anchor="b"/>
          <a:lstStyle>
            <a:lvl1pPr algn="l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5300"/>
          </a:xfrm>
          <a:prstGeom prst="rect">
            <a:avLst/>
          </a:prstGeom>
        </p:spPr>
        <p:txBody>
          <a:bodyPr vert="horz" lIns="94829" tIns="47414" rIns="94829" bIns="47414" rtlCol="0" anchor="b"/>
          <a:lstStyle>
            <a:lvl1pPr algn="r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30DF973-DCA0-4DB0-92C3-E684E721AA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405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238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4965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767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10058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628900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154680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681095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206875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1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Relationship Id="rId3" Type="http://schemas.openxmlformats.org/officeDocument/2006/relationships/image" Target="../media/image2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Relationship Id="rId3" Type="http://schemas.openxmlformats.org/officeDocument/2006/relationships/image" Target="../media/image2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2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28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3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eg"/><Relationship Id="rId3" Type="http://schemas.openxmlformats.org/officeDocument/2006/relationships/image" Target="../media/image3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eg"/><Relationship Id="rId3" Type="http://schemas.openxmlformats.org/officeDocument/2006/relationships/image" Target="../media/image3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eg"/><Relationship Id="rId3" Type="http://schemas.openxmlformats.org/officeDocument/2006/relationships/image" Target="../media/image3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g"/><Relationship Id="rId3" Type="http://schemas.openxmlformats.org/officeDocument/2006/relationships/image" Target="../media/image40.svg"/><Relationship Id="rId4" Type="http://schemas.openxmlformats.org/officeDocument/2006/relationships/image" Target="../media/image41.svg"/><Relationship Id="rId5" Type="http://schemas.openxmlformats.org/officeDocument/2006/relationships/hyperlink" Target="https://www.quectel.com/" TargetMode="External"/><Relationship Id="rId6" Type="http://schemas.openxmlformats.org/officeDocument/2006/relationships/hyperlink" Target="https://www.linkedin.com/company/quectel-wireless-solutions" TargetMode="External"/><Relationship Id="rId7" Type="http://schemas.openxmlformats.org/officeDocument/2006/relationships/hyperlink" Target="https://www.facebook.com/quectelwireless" TargetMode="External"/><Relationship Id="rId8" Type="http://schemas.openxmlformats.org/officeDocument/2006/relationships/hyperlink" Target="http://www.twitter.com/Quectel_IoT" TargetMode="External"/><Relationship Id="rId9" Type="http://schemas.openxmlformats.org/officeDocument/2006/relationships/hyperlink" Target="mailto:media@quectel.com" TargetMode="External"/><Relationship Id="rId10" Type="http://schemas.openxmlformats.org/officeDocument/2006/relationships/hyperlink" Target="mailto:info@quectel.com" TargetMode="External"/><Relationship Id="rId11" Type="http://schemas.openxmlformats.org/officeDocument/2006/relationships/hyperlink" Target="mailto:support@quectel.com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5B3E01B-F581-4962-9F73-D761052875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637C70A-04AB-476B-B577-10BE6E89B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400" y="1601200"/>
            <a:ext cx="7712075" cy="657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1911688-D02F-4D23-8E30-24E171AD0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400" y="2361212"/>
            <a:ext cx="5172075" cy="54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F5A5DE-64A4-4715-9E89-3E14A4D177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0700" y="441330"/>
            <a:ext cx="11149013" cy="288000"/>
            <a:chOff x="3300169" y="397538"/>
            <a:chExt cx="12905565" cy="333375"/>
          </a:xfrm>
        </p:grpSpPr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EBABA28D-7225-48D4-8C4F-9E667E49AC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0169" y="397538"/>
              <a:ext cx="2705100" cy="333375"/>
            </a:xfrm>
            <a:prstGeom prst="rect">
              <a:avLst/>
            </a:prstGeom>
          </p:spPr>
        </p:pic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C569DE14-DD4C-427E-833D-BD70AE466C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129284" y="476061"/>
              <a:ext cx="2076450" cy="171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154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93CD60-3C9F-25F8-073B-66251F68D9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F36613-5C6C-27BA-D9E1-7EED0ECB3656}"/>
              </a:ext>
            </a:extLst>
          </p:cNvPr>
          <p:cNvSpPr/>
          <p:nvPr userDrawn="1"/>
        </p:nvSpPr>
        <p:spPr bwMode="auto">
          <a:xfrm>
            <a:off x="5302402" y="6481041"/>
            <a:ext cx="1585609" cy="28454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fontAlgn="base">
              <a:buFont typeface="+mj-lt"/>
              <a:buNone/>
            </a:pPr>
            <a:r>
              <a:rPr lang="en-US" sz="9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Confidential under NDA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roduct showca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4CF1-42A8-E4ED-94D0-D30C36C8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" y="378000"/>
            <a:ext cx="10080000" cy="93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72B8210-DA4A-C526-33D2-7D9BD4504E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200" y="1616400"/>
            <a:ext cx="3351600" cy="4071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EB4F60-0FC4-047A-487C-CA41EAA6C5B2}"/>
              </a:ext>
            </a:extLst>
          </p:cNvPr>
          <p:cNvSpPr txBox="1">
            <a:spLocks/>
          </p:cNvSpPr>
          <p:nvPr userDrawn="1"/>
        </p:nvSpPr>
        <p:spPr>
          <a:xfrm>
            <a:off x="4676400" y="1521000"/>
            <a:ext cx="3664800" cy="3744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sz="1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0C18F1-F347-2589-F25E-8C405E741D32}"/>
              </a:ext>
            </a:extLst>
          </p:cNvPr>
          <p:cNvSpPr txBox="1">
            <a:spLocks/>
          </p:cNvSpPr>
          <p:nvPr userDrawn="1"/>
        </p:nvSpPr>
        <p:spPr>
          <a:xfrm>
            <a:off x="4676400" y="2102400"/>
            <a:ext cx="3664800" cy="19944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9BB029-3C34-84EA-F601-BD5079AAD268}"/>
              </a:ext>
            </a:extLst>
          </p:cNvPr>
          <p:cNvSpPr txBox="1">
            <a:spLocks/>
          </p:cNvSpPr>
          <p:nvPr userDrawn="1"/>
        </p:nvSpPr>
        <p:spPr>
          <a:xfrm>
            <a:off x="4227486" y="1611577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200" dirty="0"/>
              <a:t>CLICK TO EDIT MASTER 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0B8535-554C-D21D-2DC7-3305E54FC7FC}"/>
              </a:ext>
            </a:extLst>
          </p:cNvPr>
          <p:cNvSpPr txBox="1">
            <a:spLocks/>
          </p:cNvSpPr>
          <p:nvPr userDrawn="1"/>
        </p:nvSpPr>
        <p:spPr>
          <a:xfrm>
            <a:off x="4227486" y="2110341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Click to edit master 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8D5D51-D947-AF73-CCA3-C698E9DB1412}"/>
              </a:ext>
            </a:extLst>
          </p:cNvPr>
          <p:cNvSpPr txBox="1">
            <a:spLocks/>
          </p:cNvSpPr>
          <p:nvPr userDrawn="1"/>
        </p:nvSpPr>
        <p:spPr>
          <a:xfrm>
            <a:off x="4227486" y="3782122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200" dirty="0"/>
              <a:t>CLICK TO EDIT MASTER 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820A66-BB96-335E-7282-3A866FC217BC}"/>
              </a:ext>
            </a:extLst>
          </p:cNvPr>
          <p:cNvSpPr txBox="1">
            <a:spLocks/>
          </p:cNvSpPr>
          <p:nvPr userDrawn="1"/>
        </p:nvSpPr>
        <p:spPr>
          <a:xfrm>
            <a:off x="4227486" y="4280886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Click to edit master 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1C332B-E1C9-1419-CD08-2C5F674A9A7B}"/>
              </a:ext>
            </a:extLst>
          </p:cNvPr>
          <p:cNvSpPr txBox="1">
            <a:spLocks/>
          </p:cNvSpPr>
          <p:nvPr userDrawn="1"/>
        </p:nvSpPr>
        <p:spPr>
          <a:xfrm>
            <a:off x="9596049" y="1359000"/>
            <a:ext cx="1921164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200" dirty="0"/>
              <a:t>CLICK TO EDIT MASTER 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62D0A8-F90D-BE22-D9FE-E80FCC96BF70}"/>
              </a:ext>
            </a:extLst>
          </p:cNvPr>
          <p:cNvSpPr txBox="1">
            <a:spLocks/>
          </p:cNvSpPr>
          <p:nvPr userDrawn="1"/>
        </p:nvSpPr>
        <p:spPr>
          <a:xfrm>
            <a:off x="9596049" y="1857764"/>
            <a:ext cx="1921164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192049-0BCB-FE4B-4FD9-F767C2A93241}"/>
              </a:ext>
            </a:extLst>
          </p:cNvPr>
          <p:cNvSpPr/>
          <p:nvPr userDrawn="1"/>
        </p:nvSpPr>
        <p:spPr bwMode="auto">
          <a:xfrm>
            <a:off x="8878776" y="1416871"/>
            <a:ext cx="588218" cy="639267"/>
          </a:xfrm>
          <a:prstGeom prst="rect">
            <a:avLst/>
          </a:prstGeom>
          <a:solidFill>
            <a:srgbClr val="FF0000"/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9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ject and imag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0FF9-36D5-4134-7A71-C2840DE43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00" y="378000"/>
            <a:ext cx="64708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Featured project and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61761C-7E59-AD77-8B2D-6BA2E1E62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600" y="1717200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1CFC72-3845-98D2-195E-C5ED047A6F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600" y="2113200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4AF69F-9FB1-F6F6-6D82-73AEDF15CD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75600" y="0"/>
            <a:ext cx="4914000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E28DE91-3EC0-B577-61F9-827E416C8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" y="4211018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06C6F61-06FC-ABCE-2E8B-BA379EEBF6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" y="4607018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44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ject and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0FF9-36D5-4134-7A71-C2840DE43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3600" y="378000"/>
            <a:ext cx="64708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Featured project and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61761C-7E59-AD77-8B2D-6BA2E1E62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3600" y="1717200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1CFC72-3845-98D2-195E-C5ED047A6F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3600" y="2113200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4AF69F-9FB1-F6F6-6D82-73AEDF15CD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200" y="0"/>
            <a:ext cx="4914000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E28DE91-3EC0-B577-61F9-827E416C8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3600" y="4211018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06C6F61-06FC-ABCE-2E8B-BA379EEBF6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83600" y="4607018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0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5B1FEFF-4D1B-DA05-29AC-D48C5995566C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793750" y="1716088"/>
            <a:ext cx="10937875" cy="44180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zh-CN" altLang="en-US" dirty="0"/>
              <a:t>单击图表添加图表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F4B8F3-CDF7-D83B-38B7-04812840BF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063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ers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E8C804F-30B2-4A9A-A667-6F37D1413E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A608B1-1F73-4E5F-3176-95849596E0F0}"/>
              </a:ext>
            </a:extLst>
          </p:cNvPr>
          <p:cNvSpPr/>
          <p:nvPr userDrawn="1"/>
        </p:nvSpPr>
        <p:spPr>
          <a:xfrm>
            <a:off x="-1587" y="2119"/>
            <a:ext cx="12190412" cy="6857469"/>
          </a:xfrm>
          <a:prstGeom prst="rect">
            <a:avLst/>
          </a:prstGeom>
          <a:solidFill>
            <a:schemeClr val="tx1">
              <a:lumMod val="95000"/>
              <a:lumOff val="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2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10510982" y="4747223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7F09E3-C977-E0B8-CA4B-F0E9C656F5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88018005-C1F1-8E04-E7D3-F9A878AC66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49A69-63DE-0E36-955B-A208ED3D3459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B2E26217-C39B-4867-B65C-FB76D77B7A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600" y="1179476"/>
            <a:ext cx="576960" cy="55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ers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6EC0BB0-0B9E-4EF3-9E2A-94EA852750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A608B1-1F73-4E5F-3176-95849596E0F0}"/>
              </a:ext>
            </a:extLst>
          </p:cNvPr>
          <p:cNvSpPr/>
          <p:nvPr userDrawn="1"/>
        </p:nvSpPr>
        <p:spPr>
          <a:xfrm>
            <a:off x="-1" y="-2"/>
            <a:ext cx="12190413" cy="6857469"/>
          </a:xfrm>
          <a:prstGeom prst="rect">
            <a:avLst/>
          </a:prstGeom>
          <a:solidFill>
            <a:schemeClr val="tx1">
              <a:lumMod val="95000"/>
              <a:lumOff val="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2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12D6A-0CFE-445C-8FC8-EA2ABFF746B7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2" name="Graphic 5">
            <a:extLst>
              <a:ext uri="{FF2B5EF4-FFF2-40B4-BE49-F238E27FC236}">
                <a16:creationId xmlns:a16="http://schemas.microsoft.com/office/drawing/2014/main" id="{7CE64B7E-3833-4B00-B920-E4D55C86C5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22" y="1140454"/>
            <a:ext cx="628590" cy="62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96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A16BE77-17C9-4121-9D30-9232B0D98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1"/>
          <a:stretch/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5BA68E8-014B-4E94-B4F6-7E5C4C761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616" y="1196340"/>
            <a:ext cx="587022" cy="56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3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5D5F-B514-B63B-DA77-2B50C8BCE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9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64FC98F2-6207-41E6-B3DF-568C643261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413" y="-2"/>
            <a:ext cx="12193826" cy="6858002"/>
          </a:xfrm>
          <a:prstGeom prst="rect">
            <a:avLst/>
          </a:prstGeom>
        </p:spPr>
      </p:pic>
      <p:sp>
        <p:nvSpPr>
          <p:cNvPr id="20" name="AutoShape 3">
            <a:extLst>
              <a:ext uri="{FF2B5EF4-FFF2-40B4-BE49-F238E27FC236}">
                <a16:creationId xmlns:a16="http://schemas.microsoft.com/office/drawing/2014/main" id="{142C61D0-876D-44F5-AF61-76BABCF8088D}"/>
              </a:ext>
            </a:extLst>
          </p:cNvPr>
          <p:cNvSpPr/>
          <p:nvPr userDrawn="1"/>
        </p:nvSpPr>
        <p:spPr>
          <a:xfrm>
            <a:off x="0" y="0"/>
            <a:ext cx="12190413" cy="6859588"/>
          </a:xfrm>
          <a:prstGeom prst="rect">
            <a:avLst/>
          </a:prstGeom>
          <a:gradFill rotWithShape="0">
            <a:gsLst>
              <a:gs pos="0">
                <a:srgbClr val="000000">
                  <a:alpha val="22000"/>
                </a:srgbClr>
              </a:gs>
              <a:gs pos="100000">
                <a:srgbClr val="0D0D0D">
                  <a:alpha val="64000"/>
                </a:srgbClr>
              </a:gs>
            </a:gsLst>
            <a:lin ang="5400000"/>
          </a:gradFill>
          <a:ln w="12700">
            <a:noFill/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B7E33B3A-9431-49FF-A58A-EF9756193BE4}"/>
              </a:ext>
            </a:extLst>
          </p:cNvPr>
          <p:cNvSpPr/>
          <p:nvPr userDrawn="1"/>
        </p:nvSpPr>
        <p:spPr>
          <a:xfrm>
            <a:off x="9393382" y="5245987"/>
            <a:ext cx="1108364" cy="1108364"/>
          </a:xfrm>
          <a:prstGeom prst="rect">
            <a:avLst/>
          </a:prstGeom>
          <a:noFill/>
          <a:ln w="25400">
            <a:solidFill>
              <a:srgbClr val="EEECE1">
                <a:alpha val="100000"/>
              </a:srgbClr>
            </a:solidFill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0A0F09E2-2568-4B51-ACBB-868BAE561275}"/>
              </a:ext>
            </a:extLst>
          </p:cNvPr>
          <p:cNvSpPr/>
          <p:nvPr userDrawn="1"/>
        </p:nvSpPr>
        <p:spPr>
          <a:xfrm>
            <a:off x="5845030" y="5384532"/>
            <a:ext cx="498763" cy="498763"/>
          </a:xfrm>
          <a:prstGeom prst="rect">
            <a:avLst/>
          </a:prstGeom>
          <a:noFill/>
          <a:ln w="25400">
            <a:solidFill>
              <a:srgbClr val="EEECE1">
                <a:alpha val="100000"/>
              </a:srgbClr>
            </a:solidFill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66BC2791-BF6C-42C9-8E97-6FC90FC9FDD7}"/>
              </a:ext>
            </a:extLst>
          </p:cNvPr>
          <p:cNvSpPr/>
          <p:nvPr userDrawn="1"/>
        </p:nvSpPr>
        <p:spPr>
          <a:xfrm>
            <a:off x="549851" y="842984"/>
            <a:ext cx="1223530" cy="1223530"/>
          </a:xfrm>
          <a:prstGeom prst="rect">
            <a:avLst/>
          </a:prstGeom>
          <a:solidFill>
            <a:srgbClr val="210079">
              <a:alpha val="100000"/>
            </a:srgbClr>
          </a:solidFill>
          <a:ln w="12700">
            <a:noFill/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597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5D5F-B514-B63B-DA77-2B50C8BCE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4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5D5F-B514-B63B-DA77-2B50C8BCE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04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05DFFA47-554F-460F-8ECB-F7FBA48866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91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1BFE3F75-ACF2-4EC0-8FCB-2C9D536EE0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0414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1" y="0"/>
            <a:ext cx="12190412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D9ACDD-61BD-4DE6-8BEA-0BCA76AFC293}"/>
              </a:ext>
            </a:extLst>
          </p:cNvPr>
          <p:cNvSpPr/>
          <p:nvPr userDrawn="1"/>
        </p:nvSpPr>
        <p:spPr bwMode="auto">
          <a:xfrm>
            <a:off x="9015701" y="2641789"/>
            <a:ext cx="1107354" cy="110810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156597A9-3EA3-402A-8919-B611843068A7}"/>
              </a:ext>
            </a:extLst>
          </p:cNvPr>
          <p:cNvSpPr/>
          <p:nvPr userDrawn="1"/>
        </p:nvSpPr>
        <p:spPr bwMode="auto">
          <a:xfrm>
            <a:off x="10121658" y="3749897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E6D81E21-11FF-47D4-B2C1-8BDC568AF2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41747"/>
            <a:ext cx="570924" cy="62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47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C021AF3D-52F2-4E0F-BEEC-1BA16E4EF2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CD431427-DCC4-45F9-9083-266AE40D746C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A845564-A05D-44A5-99A5-4EAB06C8661B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0801284-9120-4B2E-ACB4-03F3493F4C7E}"/>
              </a:ext>
            </a:extLst>
          </p:cNvPr>
          <p:cNvSpPr/>
          <p:nvPr userDrawn="1"/>
        </p:nvSpPr>
        <p:spPr bwMode="auto">
          <a:xfrm>
            <a:off x="9863086" y="4256809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861C2592-01C8-47EC-BDD4-30EC8F33584E}"/>
              </a:ext>
            </a:extLst>
          </p:cNvPr>
          <p:cNvSpPr/>
          <p:nvPr userDrawn="1"/>
        </p:nvSpPr>
        <p:spPr bwMode="auto">
          <a:xfrm>
            <a:off x="7103930" y="1274153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2C1D6DED-D7D5-4A06-8597-F51D8A9AA6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3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0B814C96-3513-4388-AA63-17CDA3ABA0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FA02BA0F-B623-44AE-B090-961BC0897025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17CFFB1-929F-4FF4-A87A-CD0FD398078B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FB1517A-5058-40B0-AF29-EFD57AF5BE1C}"/>
              </a:ext>
            </a:extLst>
          </p:cNvPr>
          <p:cNvSpPr/>
          <p:nvPr userDrawn="1"/>
        </p:nvSpPr>
        <p:spPr bwMode="auto">
          <a:xfrm>
            <a:off x="10706484" y="231165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D0B703A1-7FB5-4636-9D23-CCE2DA345A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4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2923F2A4-E260-4F55-B296-8135EE176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40"/>
            <a:ext cx="12190413" cy="6855520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E6E7050C-D0BA-4676-9FE9-2EDC732CC8A4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0420729-A297-405A-BAAA-DF44B147DED5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B2D6506-3126-4F8A-B218-7A0A32E7DFE4}"/>
              </a:ext>
            </a:extLst>
          </p:cNvPr>
          <p:cNvSpPr/>
          <p:nvPr userDrawn="1"/>
        </p:nvSpPr>
        <p:spPr bwMode="auto">
          <a:xfrm>
            <a:off x="9670015" y="2147728"/>
            <a:ext cx="398697" cy="398969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B1A00FFF-E29C-4BFE-981D-179081922E5D}"/>
              </a:ext>
            </a:extLst>
          </p:cNvPr>
          <p:cNvSpPr/>
          <p:nvPr userDrawn="1"/>
        </p:nvSpPr>
        <p:spPr bwMode="auto">
          <a:xfrm>
            <a:off x="10068712" y="1135041"/>
            <a:ext cx="1002012" cy="1002694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0E80C54D-1CAC-4AD2-90BF-1FE2E13130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6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107528F2-073D-4D87-9A71-840A917FB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1240"/>
            <a:ext cx="12190413" cy="6855520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846038CA-F3DD-47E1-9494-D3CA894654CF}"/>
              </a:ext>
            </a:extLst>
          </p:cNvPr>
          <p:cNvSpPr/>
          <p:nvPr userDrawn="1"/>
        </p:nvSpPr>
        <p:spPr bwMode="auto">
          <a:xfrm>
            <a:off x="0" y="-1241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3852B27-F978-4080-8596-D8696138A41C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46A6C8C-61F2-4858-B036-812596291C37}"/>
              </a:ext>
            </a:extLst>
          </p:cNvPr>
          <p:cNvSpPr/>
          <p:nvPr userDrawn="1"/>
        </p:nvSpPr>
        <p:spPr bwMode="auto">
          <a:xfrm>
            <a:off x="1701317" y="5821466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DA6AF45D-1D85-4A2E-8EF1-83AFD5C73767}"/>
              </a:ext>
            </a:extLst>
          </p:cNvPr>
          <p:cNvSpPr/>
          <p:nvPr userDrawn="1"/>
        </p:nvSpPr>
        <p:spPr bwMode="auto">
          <a:xfrm>
            <a:off x="9430940" y="1454412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FEE53B5B-2715-4B89-A860-B9C0378F2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42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2E285C0-FA20-494F-A908-4A5C51088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240"/>
            <a:ext cx="12190413" cy="685552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D698D823-004F-4614-A988-6FC49B382608}"/>
              </a:ext>
            </a:extLst>
          </p:cNvPr>
          <p:cNvSpPr/>
          <p:nvPr userDrawn="1"/>
        </p:nvSpPr>
        <p:spPr bwMode="auto">
          <a:xfrm>
            <a:off x="0" y="0"/>
            <a:ext cx="12190413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558D396-1792-4D52-B46D-740173F5F7F3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E22538D-8D02-472D-BA92-680B988EA0A3}"/>
              </a:ext>
            </a:extLst>
          </p:cNvPr>
          <p:cNvSpPr/>
          <p:nvPr userDrawn="1"/>
        </p:nvSpPr>
        <p:spPr bwMode="auto">
          <a:xfrm>
            <a:off x="11446261" y="1519240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2F5CB1E-8BA3-4DE8-8169-BB42C2FB7A2C}"/>
              </a:ext>
            </a:extLst>
          </p:cNvPr>
          <p:cNvSpPr/>
          <p:nvPr userDrawn="1"/>
        </p:nvSpPr>
        <p:spPr bwMode="auto">
          <a:xfrm>
            <a:off x="10223845" y="2030166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C5EC2AF2-A57B-484B-8B03-1511FB4206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7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058C169-9593-40ED-B90B-F27014B713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0125B85-E117-4B3D-882B-811E704A0CE4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1D70BF3-1F21-46D6-BE3B-D74EDB873EF2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383AE54-82BA-4591-8C21-A0072D58A7B8}"/>
              </a:ext>
            </a:extLst>
          </p:cNvPr>
          <p:cNvSpPr/>
          <p:nvPr userDrawn="1"/>
        </p:nvSpPr>
        <p:spPr bwMode="auto">
          <a:xfrm>
            <a:off x="9863086" y="4256809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DB6CC45-1881-48A7-B38D-E0DD9EE36FF9}"/>
              </a:ext>
            </a:extLst>
          </p:cNvPr>
          <p:cNvSpPr/>
          <p:nvPr userDrawn="1"/>
        </p:nvSpPr>
        <p:spPr bwMode="auto">
          <a:xfrm>
            <a:off x="8640671" y="4751775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D516422D-D967-4DC9-B4B6-95AC0243CD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3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4F0A7B8-B0D6-4925-AB0F-6B390357E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0301C5D1-734C-4B9C-A4CF-11D869C2475E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796802C-9686-40A0-AAAF-B40552F1E6F8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E4896-B05C-485C-995C-D2FC52E365AB}"/>
              </a:ext>
            </a:extLst>
          </p:cNvPr>
          <p:cNvSpPr/>
          <p:nvPr userDrawn="1"/>
        </p:nvSpPr>
        <p:spPr bwMode="auto">
          <a:xfrm>
            <a:off x="9890359" y="1173231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5EC843DF-3B14-4F81-9292-F6E75ED8B3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27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222A3F7-8C82-4C32-8684-B76BB5DCF6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25D2EB91-56E5-40CB-BF4C-EA9C42D7240F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C00B8B9-6B36-4DA9-9276-1A5E862881D0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2375DC-531D-4C04-9BBF-A840DACBDBBD}"/>
              </a:ext>
            </a:extLst>
          </p:cNvPr>
          <p:cNvSpPr/>
          <p:nvPr userDrawn="1"/>
        </p:nvSpPr>
        <p:spPr bwMode="auto">
          <a:xfrm>
            <a:off x="9975127" y="2073636"/>
            <a:ext cx="349898" cy="350136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13FF2B4B-7734-41AA-8BBE-FF32DF9212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03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DC0D21DD-1B01-4184-BC78-B6C3FAF6D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FC55984E-EE92-455F-B5A9-3B78BEBC5D9C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D0DBF53-F72D-4817-861C-496CDE7029B1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5CDBC0C-EB99-45DF-A3AB-011255547C57}"/>
              </a:ext>
            </a:extLst>
          </p:cNvPr>
          <p:cNvSpPr/>
          <p:nvPr userDrawn="1"/>
        </p:nvSpPr>
        <p:spPr bwMode="auto">
          <a:xfrm>
            <a:off x="9975127" y="2073636"/>
            <a:ext cx="349898" cy="350136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3" name="Graphic 5">
            <a:extLst>
              <a:ext uri="{FF2B5EF4-FFF2-40B4-BE49-F238E27FC236}">
                <a16:creationId xmlns:a16="http://schemas.microsoft.com/office/drawing/2014/main" id="{9922B610-15C8-4378-9127-DB97E40EB6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84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B5B3A07-EC21-478B-A4CE-F4212B4BEC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2A34832-B783-4B10-B1C3-FDA95111E349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B71EFCB-AD14-45ED-8253-AEAF2D0F7303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C77D87-5E71-4D41-BEBE-39CFE6D550B7}"/>
              </a:ext>
            </a:extLst>
          </p:cNvPr>
          <p:cNvSpPr/>
          <p:nvPr userDrawn="1"/>
        </p:nvSpPr>
        <p:spPr bwMode="auto">
          <a:xfrm>
            <a:off x="9958199" y="4350482"/>
            <a:ext cx="272021" cy="272206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BC4DD76A-2235-41B5-A588-785CBC56F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25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4E3E8-FEAD-E82A-7DBB-93F6B72BD1E1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D032D3-6ACD-199A-6614-A63961E14E41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D08AF5B-A049-073B-B597-0B470F5D1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1BB1F4B-EE81-D54D-640C-4E61F297C8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E1B70-9ADC-FFAB-D0CC-4E8868E5B241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1761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ication showca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47509510-246B-EB6B-4D38-B29D76B763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61906" y="1840559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/>
            </a:lvl1pPr>
          </a:lstStyle>
          <a:p>
            <a:pPr lvl="0"/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FCDF1D78-A9F5-F4A9-4534-4852F7CA11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42135" y="1840558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endParaRPr lang="en-US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47882253-9400-7429-C924-81EA8D229F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2364" y="1840558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25BFCF56-8B7B-5917-7E91-85C13D07B98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02592" y="1840558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/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ABC5BEE-D499-D918-0404-C1A99BB7A9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377825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r>
              <a:rPr lang="en-US" dirty="0"/>
              <a:t>Product info</a:t>
            </a:r>
          </a:p>
        </p:txBody>
      </p:sp>
    </p:spTree>
    <p:extLst>
      <p:ext uri="{BB962C8B-B14F-4D97-AF65-F5344CB8AC3E}">
        <p14:creationId xmlns:p14="http://schemas.microsoft.com/office/powerpoint/2010/main" val="3317164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ed 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A3E5E-7B3E-E742-D033-67204AB17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600" y="378000"/>
            <a:ext cx="8192510" cy="82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  <a:lvl2pPr marL="3175" indent="0">
              <a:buNone/>
              <a:defRPr sz="3600" b="1"/>
            </a:lvl2pPr>
            <a:lvl3pPr marL="231775" indent="0">
              <a:buNone/>
              <a:defRPr sz="3600" b="1"/>
            </a:lvl3pPr>
            <a:lvl4pPr marL="447675" indent="0">
              <a:buNone/>
              <a:defRPr sz="3600" b="1"/>
            </a:lvl4pPr>
            <a:lvl5pPr marL="668020" indent="0">
              <a:buNone/>
              <a:defRPr sz="3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8BC1B66-6AAE-A8FE-A8DC-3CE87C4529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600" y="1609200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175" indent="0">
              <a:buNone/>
              <a:defRPr sz="3600" b="1"/>
            </a:lvl2pPr>
            <a:lvl3pPr marL="231775" indent="0">
              <a:buNone/>
              <a:defRPr sz="3600" b="1"/>
            </a:lvl3pPr>
            <a:lvl4pPr marL="447675" indent="0">
              <a:buNone/>
              <a:defRPr sz="3600" b="1"/>
            </a:lvl4pPr>
            <a:lvl5pPr marL="668020" indent="0">
              <a:buNone/>
              <a:defRPr sz="3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7E39C4-ABC9-00F0-D9CC-2A48FB8D22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600" y="2113200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175" indent="0">
              <a:buNone/>
              <a:defRPr sz="3600" b="1"/>
            </a:lvl2pPr>
            <a:lvl3pPr marL="231775" indent="0">
              <a:buNone/>
              <a:defRPr sz="3600" b="1"/>
            </a:lvl3pPr>
            <a:lvl4pPr marL="447675" indent="0">
              <a:buNone/>
              <a:defRPr sz="3600" b="1"/>
            </a:lvl4pPr>
            <a:lvl5pPr marL="668020" indent="0">
              <a:buNone/>
              <a:defRPr sz="3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15047A-05C7-C160-B2D3-E4FE45F85B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8800" y="4161600"/>
            <a:ext cx="3783600" cy="224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DC9E672-071C-F430-7F71-030C453D76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5200" y="4161600"/>
            <a:ext cx="4773600" cy="224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A57FEA18-E20B-0C5A-B52F-726A5FB6C06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94945" y="4161600"/>
            <a:ext cx="3783600" cy="224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158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3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CD260CD-C279-9ECC-674D-9C136BDAFB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Speakers list 3 people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1FDB7A-4F33-5A1C-A6A8-F61263F3FF86}"/>
              </a:ext>
            </a:extLst>
          </p:cNvPr>
          <p:cNvSpPr/>
          <p:nvPr userDrawn="1"/>
        </p:nvSpPr>
        <p:spPr bwMode="auto">
          <a:xfrm>
            <a:off x="843495" y="1648724"/>
            <a:ext cx="2911132" cy="2865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972AE-CDAF-0734-4048-CB35AFD6C6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2963" y="1648725"/>
            <a:ext cx="2911475" cy="28661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09A4F9-5141-AE2E-E998-595761541EDF}"/>
              </a:ext>
            </a:extLst>
          </p:cNvPr>
          <p:cNvSpPr/>
          <p:nvPr userDrawn="1"/>
        </p:nvSpPr>
        <p:spPr bwMode="auto">
          <a:xfrm>
            <a:off x="4639734" y="1731852"/>
            <a:ext cx="2911132" cy="2865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0D82635-938A-3C31-7ADA-5CE8F33FF60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39563" y="1731853"/>
            <a:ext cx="2911475" cy="28661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1E2CA5-2C22-0008-32F8-5EC559A32AE9}"/>
              </a:ext>
            </a:extLst>
          </p:cNvPr>
          <p:cNvSpPr/>
          <p:nvPr userDrawn="1"/>
        </p:nvSpPr>
        <p:spPr bwMode="auto">
          <a:xfrm>
            <a:off x="8454352" y="1731852"/>
            <a:ext cx="2911132" cy="2865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A3FAB94-5884-DBFC-6927-E687C60261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54181" y="1731853"/>
            <a:ext cx="2911475" cy="2866126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04D4F1-E50D-9928-0F99-3485046164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963" y="4597401"/>
            <a:ext cx="2911475" cy="5380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523C69-3E3C-4EF4-B054-835E803D5A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48345" y="4597401"/>
            <a:ext cx="2911475" cy="5380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2B61424-DA5B-002B-62C4-8DF089F9A0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2963" y="4597401"/>
            <a:ext cx="2911475" cy="5380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F66749D-6523-EB26-ED5B-BC4256847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963" y="5170056"/>
            <a:ext cx="2911475" cy="5380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6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8348703-2C8D-48A4-98CF-A79CEB30C9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8345" y="5170056"/>
            <a:ext cx="2911475" cy="5380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6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A669BAF-BAED-830E-DCEF-91D781D85D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62963" y="5170056"/>
            <a:ext cx="2911475" cy="5380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6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D0FB97-FF0B-AAB3-B26E-9D27C398F7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2963" y="5781675"/>
            <a:ext cx="2911475" cy="7000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1F9CF031-23B2-658D-5721-574C11A3B6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48344" y="5781675"/>
            <a:ext cx="2911475" cy="7000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1640168E-16EB-0567-EEEB-FDA2ABB00B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72198" y="5781675"/>
            <a:ext cx="2911475" cy="7000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70138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4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CD260CD-C279-9ECC-674D-9C136BDAFB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Speakers list 4 people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1FDB7A-4F33-5A1C-A6A8-F61263F3FF86}"/>
              </a:ext>
            </a:extLst>
          </p:cNvPr>
          <p:cNvSpPr/>
          <p:nvPr userDrawn="1"/>
        </p:nvSpPr>
        <p:spPr bwMode="auto">
          <a:xfrm>
            <a:off x="843495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972AE-CDAF-0734-4048-CB35AFD6C6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2963" y="1648726"/>
            <a:ext cx="2121911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04D4F1-E50D-9928-0F99-3485046164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964" y="3804101"/>
            <a:ext cx="2121910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D0FB97-FF0B-AAB3-B26E-9D27C398F7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2964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3E4215-12E2-56A8-43D2-25DFED5FF7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692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ACA5C5-2771-0F1A-CA22-719A130A6BDF}"/>
              </a:ext>
            </a:extLst>
          </p:cNvPr>
          <p:cNvSpPr/>
          <p:nvPr userDrawn="1"/>
        </p:nvSpPr>
        <p:spPr bwMode="auto">
          <a:xfrm>
            <a:off x="3780661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21480F19-2DD7-75C0-D0C0-31C56551E5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780691" y="1648724"/>
            <a:ext cx="2090022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D58051B7-2B63-2F2D-5F19-C4297EB5D1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1655" y="3804101"/>
            <a:ext cx="2121909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55939915-05CD-B9D8-6DF5-91CB228FAC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1656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46572D1-CA43-2F13-29F4-A12BC2D952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38384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DD58BF-BE58-8343-D640-2375B0BAA9CF}"/>
              </a:ext>
            </a:extLst>
          </p:cNvPr>
          <p:cNvSpPr/>
          <p:nvPr userDrawn="1"/>
        </p:nvSpPr>
        <p:spPr bwMode="auto">
          <a:xfrm>
            <a:off x="6597750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20818887-B536-EF6B-6CBF-47B6336649F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97219" y="1648726"/>
            <a:ext cx="2090022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73DE2E6-B592-B4F0-641F-FA35CF7C05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97219" y="3804101"/>
            <a:ext cx="2090022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44376D9-9F66-01DF-6EA2-71D53B4292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97219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F55E157-42EF-03F6-610C-CD6ABF050D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3947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0B4EC1-DC97-C5FF-BC7F-8400E2847CED}"/>
              </a:ext>
            </a:extLst>
          </p:cNvPr>
          <p:cNvSpPr/>
          <p:nvPr userDrawn="1"/>
        </p:nvSpPr>
        <p:spPr bwMode="auto">
          <a:xfrm>
            <a:off x="9627278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1055EEA2-832F-44AE-9E64-DBE8D64952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503058" y="1648726"/>
            <a:ext cx="2162471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0C0A0B3-8230-98FF-7715-484A51B5A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03058" y="3804101"/>
            <a:ext cx="2162471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62B2BFE-22CF-50F3-9AF7-87A55C682D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26747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B9187B30-3F7C-302C-5CC1-91EA1C4EC72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03475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435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d project and image full wid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C0AB587-0252-C9A7-DB50-774C23098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8800" y="0"/>
            <a:ext cx="11890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BF0912-6769-1C77-0B85-0F2059123FC8}"/>
              </a:ext>
            </a:extLst>
          </p:cNvPr>
          <p:cNvSpPr/>
          <p:nvPr userDrawn="1"/>
        </p:nvSpPr>
        <p:spPr bwMode="auto">
          <a:xfrm>
            <a:off x="302400" y="4003200"/>
            <a:ext cx="11890800" cy="2138400"/>
          </a:xfrm>
          <a:prstGeom prst="rect">
            <a:avLst/>
          </a:prstGeom>
          <a:solidFill>
            <a:srgbClr val="210079">
              <a:alpha val="93000"/>
            </a:srgb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EB28C90-B577-3C3A-50A5-78AF5EE204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9600" y="4330800"/>
            <a:ext cx="8506800" cy="77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047BA2C-3BFF-A358-183D-2A48BC1F7D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9600" y="5088182"/>
            <a:ext cx="8506800" cy="77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70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ctel back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50CDD-D99A-0C89-303F-B630781E36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844D46B-8687-ADE8-6082-5ADC0532FEA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6876" y="6228235"/>
            <a:ext cx="2014959" cy="25030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6B98EAF-AD7B-1416-2DD6-661035F2A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1627" y="3081942"/>
            <a:ext cx="4803626" cy="1071440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25025973-B812-4EA9-BCE7-4D21BA798B41}"/>
              </a:ext>
            </a:extLst>
          </p:cNvPr>
          <p:cNvSpPr/>
          <p:nvPr userDrawn="1"/>
        </p:nvSpPr>
        <p:spPr>
          <a:xfrm>
            <a:off x="2191627" y="4574802"/>
            <a:ext cx="8396345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For more information, please visit: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5" tooltip="https://www.quectel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quectel.com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,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6" tooltip="https://www.linkedin.com/company/quectel-wireless-solu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,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7" tooltip="https://www.facebook.com/quectelwirel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and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8" tooltip="http://www.twitter.com/Quectel_Io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.</a:t>
            </a:r>
            <a:endParaRPr lang="en-US" sz="1100" kern="0" dirty="0">
              <a:solidFill>
                <a:srgbClr val="000000"/>
              </a:solidFill>
              <a:latin typeface="Arial"/>
              <a:ea typeface="黑体" panose="02010609060101010101" pitchFamily="49" charset="-122"/>
              <a:cs typeface="Arial" panose="020B0604020202020204" pitchFamily="34" charset="0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Media contact: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9" tooltip="media@quectel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media@quectel.com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49834DF9-F40B-4EE8-B3CE-32FDDD6171DB}"/>
              </a:ext>
            </a:extLst>
          </p:cNvPr>
          <p:cNvSpPr/>
          <p:nvPr userDrawn="1"/>
        </p:nvSpPr>
        <p:spPr>
          <a:xfrm>
            <a:off x="2191627" y="5204057"/>
            <a:ext cx="8396345" cy="769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buClr>
                <a:srgbClr val="000000"/>
              </a:buClr>
              <a:buFont typeface="Arial"/>
              <a:buNone/>
            </a:pPr>
            <a:r>
              <a:rPr lang="en-US" altLang="zh-CN" sz="1100" kern="0" dirty="0" err="1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Quectel</a:t>
            </a: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Global Center, No. 8 </a:t>
            </a:r>
            <a:r>
              <a:rPr lang="en-US" altLang="zh-CN" sz="1100" kern="0" dirty="0" err="1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Waipojing</a:t>
            </a: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Road, </a:t>
            </a:r>
            <a:r>
              <a:rPr lang="en-US" altLang="zh-CN" sz="1100" kern="0" dirty="0" err="1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Sijing</a:t>
            </a: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Town, </a:t>
            </a:r>
          </a:p>
          <a:p>
            <a:pPr algn="just">
              <a:buClr>
                <a:srgbClr val="000000"/>
              </a:buClr>
              <a:buFont typeface="Arial"/>
              <a:buNone/>
            </a:pP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Songjiang District, Shanghai 201601, China</a:t>
            </a:r>
            <a:endParaRPr lang="en-US" altLang="zh-CN" sz="1100" kern="0" dirty="0">
              <a:solidFill>
                <a:srgbClr val="FFFFFF"/>
              </a:solidFill>
              <a:latin typeface="Arial"/>
              <a:ea typeface="黑体" panose="02010609060101010101" pitchFamily="49" charset="-122"/>
              <a:cs typeface="Arial" panose="020B0604020202020204" pitchFamily="34" charset="0"/>
              <a:sym typeface="Arial"/>
              <a:hlinkClick r:id="rId10" tooltip="info@quectel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000000"/>
              </a:buClr>
              <a:buFont typeface="Arial"/>
              <a:buNone/>
              <a:defRPr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Sales Support: 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sales@quectel.com</a:t>
            </a:r>
            <a:endParaRPr lang="en-US" sz="1100" kern="0" dirty="0">
              <a:solidFill>
                <a:srgbClr val="000000"/>
              </a:solidFill>
              <a:latin typeface="Arial"/>
              <a:ea typeface="黑体" panose="02010609060101010101" pitchFamily="49" charset="-122"/>
              <a:cs typeface="Arial" panose="020B0604020202020204" pitchFamily="34" charset="0"/>
              <a:sym typeface="Arial"/>
            </a:endParaRPr>
          </a:p>
          <a:p>
            <a:pPr algn="just">
              <a:buClr>
                <a:srgbClr val="000000"/>
              </a:buClr>
              <a:buFont typeface="Arial"/>
              <a:buNone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Technical Support: 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11" tooltip="support@quectel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support@quectel.com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General: 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10" tooltip="info@quectel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info@quectel.com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Relationship Id="rId34" Type="http://schemas.openxmlformats.org/officeDocument/2006/relationships/image" Target="../media/image1.svg"/><Relationship Id="rId3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CA1D19-7F00-BBF3-E932-741F9E73170F}"/>
              </a:ext>
            </a:extLst>
          </p:cNvPr>
          <p:cNvSpPr/>
          <p:nvPr userDrawn="1"/>
        </p:nvSpPr>
        <p:spPr bwMode="auto">
          <a:xfrm>
            <a:off x="0" y="0"/>
            <a:ext cx="288000" cy="68595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14CEAA-6283-F44E-BB46-3D16B24C0DC5}"/>
              </a:ext>
            </a:extLst>
          </p:cNvPr>
          <p:cNvSpPr/>
          <p:nvPr userDrawn="1"/>
        </p:nvSpPr>
        <p:spPr bwMode="auto">
          <a:xfrm>
            <a:off x="0" y="6490624"/>
            <a:ext cx="288000" cy="368964"/>
          </a:xfrm>
          <a:prstGeom prst="rect">
            <a:avLst/>
          </a:prstGeom>
          <a:solidFill>
            <a:srgbClr val="210079"/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0" y="6567384"/>
            <a:ext cx="326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42925" indent="-1587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087755" indent="-3492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30680" indent="-5270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174875" indent="-7175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l" defTabSz="10871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lang="zh-CN" altLang="en-US" sz="800" b="1" smtClean="0">
                <a:solidFill>
                  <a:schemeClr val="bg1"/>
                </a:solidFill>
                <a:latin typeface="+mn-lt"/>
                <a:ea typeface="黑体" panose="02010609060101010101" pitchFamily="49" charset="-122"/>
                <a:cs typeface="Verdana" panose="020B0604030504040204" pitchFamily="34" charset="0"/>
              </a:rPr>
              <a:pPr marL="0" marR="0" indent="0" algn="l" defTabSz="108712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zh-CN" altLang="en-US" sz="800" b="1" dirty="0">
              <a:solidFill>
                <a:schemeClr val="bg1"/>
              </a:solidFill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2036ED-43E6-F94B-45C9-313ABA2A4ADA}"/>
              </a:ext>
            </a:extLst>
          </p:cNvPr>
          <p:cNvCxnSpPr/>
          <p:nvPr userDrawn="1"/>
        </p:nvCxnSpPr>
        <p:spPr>
          <a:xfrm>
            <a:off x="288000" y="0"/>
            <a:ext cx="0" cy="685958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 rot="16200000">
            <a:off x="-1209788" y="4841800"/>
            <a:ext cx="2690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42925" indent="-15875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087438" indent="-34925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630363" indent="-52388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174875" indent="-71438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l"/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Version: 1.0    Status: confidential 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D3527AEA-C446-9848-5BA2-FA72CCD5EC8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10701467" y="6625938"/>
            <a:ext cx="1208377" cy="983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C9CCB5-8C84-41BB-81B1-A13FF102C16E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797" y="135314"/>
            <a:ext cx="1313514" cy="16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3650" r:id="rId2"/>
    <p:sldLayoutId id="2147484211" r:id="rId3"/>
    <p:sldLayoutId id="2147484205" r:id="rId4"/>
    <p:sldLayoutId id="2147484206" r:id="rId5"/>
    <p:sldLayoutId id="2147484213" r:id="rId6"/>
    <p:sldLayoutId id="2147484098" r:id="rId7"/>
    <p:sldLayoutId id="2147484202" r:id="rId8"/>
    <p:sldLayoutId id="2147484210" r:id="rId9"/>
    <p:sldLayoutId id="2147484214" r:id="rId10"/>
    <p:sldLayoutId id="2147484219" r:id="rId11"/>
    <p:sldLayoutId id="2147484215" r:id="rId12"/>
    <p:sldLayoutId id="2147484216" r:id="rId13"/>
    <p:sldLayoutId id="2147484217" r:id="rId14"/>
    <p:sldLayoutId id="2147484218" r:id="rId15"/>
    <p:sldLayoutId id="2147484220" r:id="rId16"/>
    <p:sldLayoutId id="2147484221" r:id="rId17"/>
    <p:sldLayoutId id="2147484222" r:id="rId18"/>
    <p:sldLayoutId id="2147484223" r:id="rId19"/>
    <p:sldLayoutId id="2147484224" r:id="rId20"/>
    <p:sldLayoutId id="2147484225" r:id="rId21"/>
    <p:sldLayoutId id="2147484226" r:id="rId22"/>
    <p:sldLayoutId id="2147484228" r:id="rId23"/>
    <p:sldLayoutId id="2147484227" r:id="rId24"/>
    <p:sldLayoutId id="2147484229" r:id="rId25"/>
    <p:sldLayoutId id="2147484212" r:id="rId26"/>
    <p:sldLayoutId id="2147484203" r:id="rId27"/>
    <p:sldLayoutId id="2147484207" r:id="rId28"/>
    <p:sldLayoutId id="2147484208" r:id="rId29"/>
    <p:sldLayoutId id="2147484209" r:id="rId30"/>
    <p:sldLayoutId id="2147484201" r:id="rId31"/>
    <p:sldLayoutId id="2147483651" r:id="rId32"/>
  </p:sldLayoutIdLst>
  <p:hf hdr="0"/>
  <p:txStyles>
    <p:titleStyle>
      <a:lvl1pPr algn="l" defTabSz="1087120" rtl="0" eaLnBrk="0" fontAlgn="base" hangingPunct="0">
        <a:spcBef>
          <a:spcPct val="0"/>
        </a:spcBef>
        <a:spcAft>
          <a:spcPct val="0"/>
        </a:spcAft>
        <a:tabLst>
          <a:tab pos="3676650" algn="l"/>
        </a:tabLst>
        <a:defRPr lang="en-US" altLang="zh-CN" sz="3600" b="1" i="0" kern="1200" baseline="0" dirty="0" err="1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2578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5156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57734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0312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09575" indent="-409575" algn="l" defTabSz="1087120" rtl="0" eaLnBrk="0" fontAlgn="base" hangingPunct="0">
        <a:spcBef>
          <a:spcPts val="615"/>
        </a:spcBef>
        <a:spcAft>
          <a:spcPct val="0"/>
        </a:spcAft>
        <a:buFont typeface="Arial" panose="020B0604020202020204" pitchFamily="34" charset="0"/>
        <a:buChar char="•"/>
        <a:defRPr sz="3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7330" indent="-224155" algn="l" defTabSz="1087120" rtl="0" eaLnBrk="0" fontAlgn="base" hangingPunct="0">
        <a:spcBef>
          <a:spcPts val="615"/>
        </a:spcBef>
        <a:spcAft>
          <a:spcPct val="0"/>
        </a:spcAft>
        <a:buClr>
          <a:srgbClr val="FF0000"/>
        </a:buClr>
        <a:buSzPct val="120000"/>
        <a:buFont typeface="Arial" panose="020B0604020202020204" pitchFamily="34" charset="0"/>
        <a:buChar char="▪"/>
        <a:defRPr sz="32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43230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59130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79475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17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36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7" y="309033"/>
            <a:ext cx="11718035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spcBef>
                <a:spcPts val="615"/>
              </a:spcBef>
              <a:tabLst>
                <a:tab pos="3676650" algn="l"/>
              </a:tabLst>
            </a:pPr>
            <a:r>
              <a:rPr lang="en-US" altLang="zh-CN" sz="32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FAE Sharing Intelligence Platform | </a:t>
            </a:r>
            <a:r>
              <a:rPr lang="en-US" altLang="zh-CN" sz="24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From Documents to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6806" y="1814524"/>
            <a:ext cx="5034056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Classification live: ~17,105 leaf docs in the hub; 17,092 titles standardized.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7" y="2371111"/>
            <a:ext cx="4251959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Goal: Classify, score quality, and keep the hub continuously governed.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96ACF9B-568D-D4DF-0D43-91659A0B3C4C}"/>
              </a:ext>
            </a:extLst>
          </p:cNvPr>
          <p:cNvGrpSpPr/>
          <p:nvPr/>
        </p:nvGrpSpPr>
        <p:grpSpPr>
          <a:xfrm>
            <a:off x="493776" y="3374930"/>
            <a:ext cx="1024128" cy="246888"/>
            <a:chOff x="493776" y="3374930"/>
            <a:chExt cx="1024128" cy="246888"/>
          </a:xfrm>
        </p:grpSpPr>
        <p:sp>
          <p:nvSpPr>
            <p:cNvPr id="8" name="Rectangle 7"/>
            <p:cNvSpPr/>
            <p:nvPr/>
          </p:nvSpPr>
          <p:spPr>
            <a:xfrm>
              <a:off x="493776" y="3374930"/>
              <a:ext cx="1024128" cy="246888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3776" y="3401425"/>
              <a:ext cx="102412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900" b="1" dirty="0">
                  <a:solidFill>
                    <a:schemeClr val="bg1"/>
                  </a:solidFill>
                  <a:cs typeface="Arial" panose="020B0604020202020204" pitchFamily="34" charset="0"/>
                </a:rPr>
                <a:t>WHY</a:t>
              </a:r>
              <a:r>
                <a:rPr sz="900" b="1" dirty="0">
                  <a:solidFill>
                    <a:schemeClr val="bg1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sz="900" b="1" dirty="0">
                  <a:solidFill>
                    <a:schemeClr val="bg1"/>
                  </a:solidFill>
                  <a:cs typeface="Arial" panose="020B0604020202020204" pitchFamily="34" charset="0"/>
                </a:rPr>
                <a:t>NOW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1F3BAA-C527-B1E4-DF3B-57B3CCEBD752}"/>
              </a:ext>
            </a:extLst>
          </p:cNvPr>
          <p:cNvGrpSpPr/>
          <p:nvPr/>
        </p:nvGrpSpPr>
        <p:grpSpPr>
          <a:xfrm>
            <a:off x="507491" y="3810101"/>
            <a:ext cx="5175504" cy="1922079"/>
            <a:chOff x="539496" y="3656554"/>
            <a:chExt cx="5175504" cy="1922079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03E137B-B6E4-6740-36A6-A46D5C44A20C}"/>
                </a:ext>
              </a:extLst>
            </p:cNvPr>
            <p:cNvGrpSpPr/>
            <p:nvPr/>
          </p:nvGrpSpPr>
          <p:grpSpPr>
            <a:xfrm>
              <a:off x="539496" y="3656554"/>
              <a:ext cx="4645152" cy="298223"/>
              <a:chOff x="539496" y="3656554"/>
              <a:chExt cx="4645152" cy="29822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539496" y="3726635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01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32688" y="3656554"/>
                <a:ext cx="4251960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Classification relies on manual maintenance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" name="Connector 11"/>
            <p:cNvCxnSpPr/>
            <p:nvPr/>
          </p:nvCxnSpPr>
          <p:spPr>
            <a:xfrm>
              <a:off x="539496" y="4005866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145B9A02-D595-3B37-6D7E-EE4705DD06D1}"/>
                </a:ext>
              </a:extLst>
            </p:cNvPr>
            <p:cNvGrpSpPr/>
            <p:nvPr/>
          </p:nvGrpSpPr>
          <p:grpSpPr>
            <a:xfrm>
              <a:off x="539496" y="4032466"/>
              <a:ext cx="4988336" cy="298223"/>
              <a:chOff x="539496" y="4032466"/>
              <a:chExt cx="4988336" cy="29822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39496" y="4102547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02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32688" y="4032466"/>
                <a:ext cx="4595144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Low search efficiency across product lines and technical areas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" name="Connector 14"/>
            <p:cNvCxnSpPr/>
            <p:nvPr/>
          </p:nvCxnSpPr>
          <p:spPr>
            <a:xfrm>
              <a:off x="539496" y="4399058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FCA28141-4EAE-0050-F6BF-0913CB18978A}"/>
                </a:ext>
              </a:extLst>
            </p:cNvPr>
            <p:cNvGrpSpPr/>
            <p:nvPr/>
          </p:nvGrpSpPr>
          <p:grpSpPr>
            <a:xfrm>
              <a:off x="539496" y="4452034"/>
              <a:ext cx="5175504" cy="298223"/>
              <a:chOff x="539496" y="4452034"/>
              <a:chExt cx="5175504" cy="298223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539496" y="4522115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03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32688" y="4452034"/>
                <a:ext cx="4782312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Knowledge in Word, PDF and PPT attachments remains dormant</a:t>
                </a:r>
              </a:p>
            </p:txBody>
          </p:sp>
        </p:grpSp>
        <p:cxnSp>
          <p:nvCxnSpPr>
            <p:cNvPr id="18" name="Connector 17"/>
            <p:cNvCxnSpPr/>
            <p:nvPr/>
          </p:nvCxnSpPr>
          <p:spPr>
            <a:xfrm>
              <a:off x="539496" y="4792250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EE182EF1-9F92-F30C-169C-7EDDA351A717}"/>
                </a:ext>
              </a:extLst>
            </p:cNvPr>
            <p:cNvGrpSpPr/>
            <p:nvPr/>
          </p:nvGrpSpPr>
          <p:grpSpPr>
            <a:xfrm>
              <a:off x="539496" y="4818545"/>
              <a:ext cx="4645152" cy="298223"/>
              <a:chOff x="539496" y="4818545"/>
              <a:chExt cx="4645152" cy="29822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539496" y="4901978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04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932688" y="4818545"/>
                <a:ext cx="4251960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Best FAE practices are difficult to reuse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Connector 20"/>
            <p:cNvCxnSpPr/>
            <p:nvPr/>
          </p:nvCxnSpPr>
          <p:spPr>
            <a:xfrm>
              <a:off x="539496" y="5185442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05B34C3-1023-24A7-C4F7-815B3BC49B81}"/>
                </a:ext>
              </a:extLst>
            </p:cNvPr>
            <p:cNvGrpSpPr/>
            <p:nvPr/>
          </p:nvGrpSpPr>
          <p:grpSpPr>
            <a:xfrm>
              <a:off x="539496" y="5206235"/>
              <a:ext cx="4645152" cy="298223"/>
              <a:chOff x="539496" y="5206235"/>
              <a:chExt cx="4645152" cy="298223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539496" y="5295170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05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32688" y="5206235"/>
                <a:ext cx="4251960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No quality bar for AI / External KB reuse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4" name="Connector 23"/>
            <p:cNvCxnSpPr/>
            <p:nvPr/>
          </p:nvCxnSpPr>
          <p:spPr>
            <a:xfrm>
              <a:off x="539496" y="5578633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A99845B-E6BC-0217-45FD-00BED99C58E1}"/>
              </a:ext>
            </a:extLst>
          </p:cNvPr>
          <p:cNvGrpSpPr/>
          <p:nvPr/>
        </p:nvGrpSpPr>
        <p:grpSpPr>
          <a:xfrm>
            <a:off x="5794186" y="1809406"/>
            <a:ext cx="5888736" cy="2450592"/>
            <a:chOff x="5794186" y="1809406"/>
            <a:chExt cx="5888736" cy="2450592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5A8132F-1EA8-BD83-C2C2-F0C4BD36169F}"/>
                </a:ext>
              </a:extLst>
            </p:cNvPr>
            <p:cNvGrpSpPr/>
            <p:nvPr/>
          </p:nvGrpSpPr>
          <p:grpSpPr>
            <a:xfrm>
              <a:off x="5794186" y="1809406"/>
              <a:ext cx="2148840" cy="1188720"/>
              <a:chOff x="5794186" y="1809406"/>
              <a:chExt cx="2148840" cy="1188720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794186" y="1809406"/>
                <a:ext cx="2148840" cy="118872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940490" y="1985884"/>
                <a:ext cx="1856232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2100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20,000+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922201" y="2521476"/>
                <a:ext cx="189280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Historical</a:t>
                </a:r>
                <a:r>
                  <a:rPr lang="zh-CN" altLang="en-US" sz="9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Sharing</a:t>
                </a:r>
                <a:r>
                  <a:rPr lang="zh-CN" altLang="en-US" sz="9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Volume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DF36E21-B629-CA9B-DF0A-6F5208C30110}"/>
                </a:ext>
              </a:extLst>
            </p:cNvPr>
            <p:cNvGrpSpPr/>
            <p:nvPr/>
          </p:nvGrpSpPr>
          <p:grpSpPr>
            <a:xfrm>
              <a:off x="8052754" y="1809406"/>
              <a:ext cx="2148840" cy="1188720"/>
              <a:chOff x="8052754" y="1809406"/>
              <a:chExt cx="2148840" cy="118872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8052754" y="1809406"/>
                <a:ext cx="2148840" cy="118872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8199058" y="1985884"/>
                <a:ext cx="1856232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2100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PHASE 2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180770" y="2429143"/>
                <a:ext cx="1892808" cy="4247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Classification Complete</a:t>
                </a:r>
                <a:r>
                  <a:rPr lang="zh-CN" altLang="en-US" sz="8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/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/>
                </a:r>
                <a:r>
                  <a:rPr lang="zh-CN" altLang="en-US" sz="8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/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/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218FEA46-E2E9-00B0-8798-B7D3FE55EE26}"/>
                </a:ext>
              </a:extLst>
            </p:cNvPr>
            <p:cNvGrpSpPr/>
            <p:nvPr/>
          </p:nvGrpSpPr>
          <p:grpSpPr>
            <a:xfrm>
              <a:off x="10311322" y="1809406"/>
              <a:ext cx="1371600" cy="1188720"/>
              <a:chOff x="10311322" y="1809406"/>
              <a:chExt cx="1371600" cy="118872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311322" y="1809406"/>
                <a:ext cx="1371600" cy="1188720"/>
              </a:xfrm>
              <a:prstGeom prst="rect">
                <a:avLst/>
              </a:prstGeom>
              <a:solidFill>
                <a:srgbClr val="FA0505"/>
              </a:solidFill>
              <a:ln>
                <a:solidFill>
                  <a:srgbClr val="FA05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0457626" y="1824301"/>
                <a:ext cx="1078992" cy="701731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2100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17,105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0439338" y="2492398"/>
                <a:ext cx="1115568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Classified Leaf Docs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03FDAD1D-49C2-2DEA-EE23-41A5EF259937}"/>
                </a:ext>
              </a:extLst>
            </p:cNvPr>
            <p:cNvGrpSpPr/>
            <p:nvPr/>
          </p:nvGrpSpPr>
          <p:grpSpPr>
            <a:xfrm>
              <a:off x="5794186" y="3144430"/>
              <a:ext cx="3291840" cy="1115568"/>
              <a:chOff x="5794186" y="3144430"/>
              <a:chExt cx="3291840" cy="1115568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5794186" y="3144430"/>
                <a:ext cx="3291840" cy="1115568"/>
              </a:xfrm>
              <a:prstGeom prst="rect">
                <a:avLst/>
              </a:prstGeom>
              <a:solidFill>
                <a:srgbClr val="2D2D2D"/>
              </a:solidFill>
              <a:ln>
                <a:solidFill>
                  <a:srgbClr val="2D2D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940490" y="3320908"/>
                <a:ext cx="2999232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Production Live</a:t>
                </a:r>
                <a:endParaRPr b="1" dirty="0">
                  <a:solidFill>
                    <a:srgbClr val="FFFFFF"/>
                  </a:solidFill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922201" y="3827422"/>
                <a:ext cx="3035808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Parse · Classify · Title · Metadata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4E7922E0-3EDD-BB90-1B8F-288AA5504842}"/>
                </a:ext>
              </a:extLst>
            </p:cNvPr>
            <p:cNvGrpSpPr/>
            <p:nvPr/>
          </p:nvGrpSpPr>
          <p:grpSpPr>
            <a:xfrm>
              <a:off x="9204898" y="3144430"/>
              <a:ext cx="2478024" cy="1115568"/>
              <a:chOff x="9204898" y="3144430"/>
              <a:chExt cx="2478024" cy="1115568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9204898" y="3144430"/>
                <a:ext cx="2478024" cy="1115568"/>
              </a:xfrm>
              <a:prstGeom prst="rect">
                <a:avLst/>
              </a:prstGeom>
              <a:solidFill>
                <a:srgbClr val="00AEEF"/>
              </a:solidFill>
              <a:ln>
                <a:solidFill>
                  <a:srgbClr val="00AE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9351202" y="3320908"/>
                <a:ext cx="2185416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Goal</a:t>
                </a:r>
                <a:endParaRPr sz="2100" b="1" dirty="0">
                  <a:solidFill>
                    <a:srgbClr val="FFFFFF"/>
                  </a:solidFill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9332914" y="3827422"/>
                <a:ext cx="2221991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Increment + Quality Scoring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11548F5A-12DD-57D2-7912-78477C305648}"/>
              </a:ext>
            </a:extLst>
          </p:cNvPr>
          <p:cNvGrpSpPr/>
          <p:nvPr/>
        </p:nvGrpSpPr>
        <p:grpSpPr>
          <a:xfrm>
            <a:off x="5794186" y="4654779"/>
            <a:ext cx="1645920" cy="246888"/>
            <a:chOff x="5794186" y="4654779"/>
            <a:chExt cx="1645920" cy="246888"/>
          </a:xfrm>
        </p:grpSpPr>
        <p:sp>
          <p:nvSpPr>
            <p:cNvPr id="40" name="Rectangle 39"/>
            <p:cNvSpPr/>
            <p:nvPr/>
          </p:nvSpPr>
          <p:spPr>
            <a:xfrm>
              <a:off x="5794186" y="4654779"/>
              <a:ext cx="1645920" cy="246888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94186" y="4673580"/>
              <a:ext cx="1645920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PROJECT</a:t>
              </a:r>
              <a:r>
                <a:rPr sz="1000" b="1" dirty="0">
                  <a:solidFill>
                    <a:schemeClr val="bg1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sz="1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OBJECTIVES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81CDD73-7108-D310-4D31-2B8FDAB21919}"/>
              </a:ext>
            </a:extLst>
          </p:cNvPr>
          <p:cNvGrpSpPr/>
          <p:nvPr/>
        </p:nvGrpSpPr>
        <p:grpSpPr>
          <a:xfrm>
            <a:off x="5794186" y="5020539"/>
            <a:ext cx="2935224" cy="240066"/>
            <a:chOff x="5794186" y="5020539"/>
            <a:chExt cx="2935224" cy="240066"/>
          </a:xfrm>
        </p:grpSpPr>
        <p:sp>
          <p:nvSpPr>
            <p:cNvPr id="42" name="Oval 41"/>
            <p:cNvSpPr/>
            <p:nvPr/>
          </p:nvSpPr>
          <p:spPr>
            <a:xfrm>
              <a:off x="5794186" y="5090280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86210" y="5020539"/>
              <a:ext cx="2743200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Confluence</a:t>
              </a:r>
              <a:r>
                <a:rPr sz="850" b="1" dirty="0">
                  <a:solidFill>
                    <a:srgbClr val="2D2D2D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→ Lark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Wiki </a:t>
              </a:r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Migration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1BE2256-8317-2E7B-6062-47099E79D5E3}"/>
              </a:ext>
            </a:extLst>
          </p:cNvPr>
          <p:cNvGrpSpPr/>
          <p:nvPr/>
        </p:nvGrpSpPr>
        <p:grpSpPr>
          <a:xfrm>
            <a:off x="8610414" y="4955435"/>
            <a:ext cx="3176933" cy="296556"/>
            <a:chOff x="8824567" y="4982822"/>
            <a:chExt cx="3176933" cy="296556"/>
          </a:xfrm>
        </p:grpSpPr>
        <p:sp>
          <p:nvSpPr>
            <p:cNvPr id="44" name="Oval 43"/>
            <p:cNvSpPr/>
            <p:nvPr/>
          </p:nvSpPr>
          <p:spPr>
            <a:xfrm>
              <a:off x="8824567" y="5117667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022018" y="4982822"/>
              <a:ext cx="2979482" cy="29655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 Classification: Product × Technical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C717784-9EBC-3DA7-FA05-B1320383443E}"/>
              </a:ext>
            </a:extLst>
          </p:cNvPr>
          <p:cNvGrpSpPr/>
          <p:nvPr/>
        </p:nvGrpSpPr>
        <p:grpSpPr>
          <a:xfrm>
            <a:off x="5794186" y="5433783"/>
            <a:ext cx="2935224" cy="298223"/>
            <a:chOff x="5794186" y="5433783"/>
            <a:chExt cx="2935224" cy="298223"/>
          </a:xfrm>
        </p:grpSpPr>
        <p:sp>
          <p:nvSpPr>
            <p:cNvPr id="46" name="Oval 45"/>
            <p:cNvSpPr/>
            <p:nvPr/>
          </p:nvSpPr>
          <p:spPr>
            <a:xfrm>
              <a:off x="5794186" y="5553360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86210" y="5433783"/>
              <a:ext cx="2743200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Multi-format Attachment Parsing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4051C7D-F35D-C9CB-7C15-FCEFFA918C2D}"/>
              </a:ext>
            </a:extLst>
          </p:cNvPr>
          <p:cNvGrpSpPr/>
          <p:nvPr/>
        </p:nvGrpSpPr>
        <p:grpSpPr>
          <a:xfrm>
            <a:off x="8615841" y="5433782"/>
            <a:ext cx="3171506" cy="298223"/>
            <a:chOff x="8829994" y="5461169"/>
            <a:chExt cx="3171506" cy="298223"/>
          </a:xfrm>
        </p:grpSpPr>
        <p:sp>
          <p:nvSpPr>
            <p:cNvPr id="48" name="Oval 47"/>
            <p:cNvSpPr/>
            <p:nvPr/>
          </p:nvSpPr>
          <p:spPr>
            <a:xfrm>
              <a:off x="8829994" y="5580747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022018" y="5461169"/>
              <a:ext cx="2979482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25-pt Quality Scoring Pilot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264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468" y="309241"/>
            <a:ext cx="1150400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spcBef>
                <a:spcPts val="615"/>
              </a:spcBef>
              <a:tabLst>
                <a:tab pos="3676650" algn="l"/>
              </a:tabLst>
            </a:pPr>
            <a:r>
              <a:rPr lang="zh-CN" altLang="en-US" sz="32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Core Capabilities in Production; Quality Scoring Next</a:t>
            </a:r>
            <a:endParaRPr lang="en-US" altLang="zh-CN" sz="32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7" y="1248353"/>
            <a:ext cx="9784080" cy="338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Intake → parse attachments → AI classify → standard titles/metadata → searchable hub.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E993498-A085-603A-0BDA-A0B1894F0A8B}"/>
              </a:ext>
            </a:extLst>
          </p:cNvPr>
          <p:cNvGrpSpPr/>
          <p:nvPr/>
        </p:nvGrpSpPr>
        <p:grpSpPr>
          <a:xfrm>
            <a:off x="493776" y="2048256"/>
            <a:ext cx="1335024" cy="1060704"/>
            <a:chOff x="493776" y="2048256"/>
            <a:chExt cx="1335024" cy="1060704"/>
          </a:xfrm>
        </p:grpSpPr>
        <p:sp>
          <p:nvSpPr>
            <p:cNvPr id="6" name="Rectangle 5"/>
            <p:cNvSpPr/>
            <p:nvPr/>
          </p:nvSpPr>
          <p:spPr>
            <a:xfrm>
              <a:off x="49377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3776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Lark</a:t>
              </a:r>
              <a:r>
                <a:rPr sz="1200" b="1" dirty="0">
                  <a:solidFill>
                    <a:srgbClr val="2D2D2D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iki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Info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Access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182880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0F8ECDE-4347-5E68-8F35-06E6E4449B66}"/>
              </a:ext>
            </a:extLst>
          </p:cNvPr>
          <p:cNvGrpSpPr/>
          <p:nvPr/>
        </p:nvGrpSpPr>
        <p:grpSpPr>
          <a:xfrm>
            <a:off x="2121408" y="2048256"/>
            <a:ext cx="1335024" cy="1060704"/>
            <a:chOff x="2121408" y="2048256"/>
            <a:chExt cx="1335024" cy="1060704"/>
          </a:xfrm>
        </p:grpSpPr>
        <p:sp>
          <p:nvSpPr>
            <p:cNvPr id="12" name="Rectangle 11"/>
            <p:cNvSpPr/>
            <p:nvPr/>
          </p:nvSpPr>
          <p:spPr>
            <a:xfrm>
              <a:off x="2121408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21408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6771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6771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SCAN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67712" y="2779776"/>
              <a:ext cx="1179575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Attachment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Scan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7" name="Connector 16"/>
          <p:cNvCxnSpPr/>
          <p:nvPr/>
        </p:nvCxnSpPr>
        <p:spPr>
          <a:xfrm>
            <a:off x="3456432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B987F07-8B39-205C-F242-695C6EAD9446}"/>
              </a:ext>
            </a:extLst>
          </p:cNvPr>
          <p:cNvGrpSpPr/>
          <p:nvPr/>
        </p:nvGrpSpPr>
        <p:grpSpPr>
          <a:xfrm>
            <a:off x="3749039" y="2048256"/>
            <a:ext cx="1335024" cy="1060704"/>
            <a:chOff x="3749039" y="2048256"/>
            <a:chExt cx="1335024" cy="1060704"/>
          </a:xfrm>
        </p:grpSpPr>
        <p:sp>
          <p:nvSpPr>
            <p:cNvPr id="18" name="Rectangle 17"/>
            <p:cNvSpPr/>
            <p:nvPr/>
          </p:nvSpPr>
          <p:spPr>
            <a:xfrm>
              <a:off x="3749039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749039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5344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344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EXTRACT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5344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Content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Parsing</a:t>
              </a:r>
            </a:p>
          </p:txBody>
        </p:sp>
      </p:grpSp>
      <p:cxnSp>
        <p:nvCxnSpPr>
          <p:cNvPr id="23" name="Connector 22"/>
          <p:cNvCxnSpPr/>
          <p:nvPr/>
        </p:nvCxnSpPr>
        <p:spPr>
          <a:xfrm>
            <a:off x="5084064" y="2578608"/>
            <a:ext cx="283463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EE0949-CF44-9AFD-E3A3-C100F75B5E99}"/>
              </a:ext>
            </a:extLst>
          </p:cNvPr>
          <p:cNvGrpSpPr/>
          <p:nvPr/>
        </p:nvGrpSpPr>
        <p:grpSpPr>
          <a:xfrm>
            <a:off x="5376672" y="2048256"/>
            <a:ext cx="1344167" cy="1060704"/>
            <a:chOff x="5376672" y="2048256"/>
            <a:chExt cx="1344167" cy="1060704"/>
          </a:xfrm>
        </p:grpSpPr>
        <p:sp>
          <p:nvSpPr>
            <p:cNvPr id="24" name="Rectangle 23"/>
            <p:cNvSpPr/>
            <p:nvPr/>
          </p:nvSpPr>
          <p:spPr>
            <a:xfrm>
              <a:off x="5376672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376672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22976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22976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ATTACH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13832" y="2795165"/>
              <a:ext cx="1207007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Attachment</a:t>
              </a:r>
              <a:r>
                <a:rPr sz="9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Extraction</a:t>
              </a:r>
            </a:p>
          </p:txBody>
        </p:sp>
      </p:grpSp>
      <p:cxnSp>
        <p:nvCxnSpPr>
          <p:cNvPr id="29" name="Connector 28"/>
          <p:cNvCxnSpPr/>
          <p:nvPr/>
        </p:nvCxnSpPr>
        <p:spPr>
          <a:xfrm>
            <a:off x="6711696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23FF996-3485-4444-2DDC-FC353DEF004F}"/>
              </a:ext>
            </a:extLst>
          </p:cNvPr>
          <p:cNvGrpSpPr/>
          <p:nvPr/>
        </p:nvGrpSpPr>
        <p:grpSpPr>
          <a:xfrm>
            <a:off x="7004304" y="2048256"/>
            <a:ext cx="1335024" cy="1060704"/>
            <a:chOff x="7004304" y="2048256"/>
            <a:chExt cx="1335024" cy="1060704"/>
          </a:xfrm>
        </p:grpSpPr>
        <p:sp>
          <p:nvSpPr>
            <p:cNvPr id="30" name="Rectangle 29"/>
            <p:cNvSpPr/>
            <p:nvPr/>
          </p:nvSpPr>
          <p:spPr>
            <a:xfrm>
              <a:off x="7004304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004304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50608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50608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50608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Semantic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Review</a:t>
              </a:r>
            </a:p>
          </p:txBody>
        </p:sp>
      </p:grpSp>
      <p:cxnSp>
        <p:nvCxnSpPr>
          <p:cNvPr id="35" name="Connector 34"/>
          <p:cNvCxnSpPr/>
          <p:nvPr/>
        </p:nvCxnSpPr>
        <p:spPr>
          <a:xfrm>
            <a:off x="8339328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89EB3B1-284B-CE3E-2852-2BDFFF5B090D}"/>
              </a:ext>
            </a:extLst>
          </p:cNvPr>
          <p:cNvGrpSpPr/>
          <p:nvPr/>
        </p:nvGrpSpPr>
        <p:grpSpPr>
          <a:xfrm>
            <a:off x="8631936" y="2048256"/>
            <a:ext cx="1335024" cy="1060704"/>
            <a:chOff x="8631936" y="2048256"/>
            <a:chExt cx="1335024" cy="1060704"/>
          </a:xfrm>
        </p:grpSpPr>
        <p:sp>
          <p:nvSpPr>
            <p:cNvPr id="36" name="Rectangle 35"/>
            <p:cNvSpPr/>
            <p:nvPr/>
          </p:nvSpPr>
          <p:spPr>
            <a:xfrm>
              <a:off x="863193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631936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77824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06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77824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CLASSIFY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7824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AI</a:t>
              </a:r>
              <a:r>
                <a:rPr 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Classification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41" name="Connector 40"/>
          <p:cNvCxnSpPr/>
          <p:nvPr/>
        </p:nvCxnSpPr>
        <p:spPr>
          <a:xfrm>
            <a:off x="996696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5FD0BDD-81ED-E816-319C-37D9C4FA6BB3}"/>
              </a:ext>
            </a:extLst>
          </p:cNvPr>
          <p:cNvGrpSpPr/>
          <p:nvPr/>
        </p:nvGrpSpPr>
        <p:grpSpPr>
          <a:xfrm>
            <a:off x="10259567" y="2048256"/>
            <a:ext cx="1335024" cy="1060704"/>
            <a:chOff x="10259567" y="2048256"/>
            <a:chExt cx="1335024" cy="1060704"/>
          </a:xfrm>
        </p:grpSpPr>
        <p:sp>
          <p:nvSpPr>
            <p:cNvPr id="42" name="Rectangle 41"/>
            <p:cNvSpPr/>
            <p:nvPr/>
          </p:nvSpPr>
          <p:spPr>
            <a:xfrm>
              <a:off x="10259567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59567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40587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0587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TITLES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05872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17,092 Titles</a:t>
              </a:r>
              <a:r>
                <a:rPr lang="zh-CN" alt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endParaRPr sz="1000" b="0" dirty="0">
                <a:solidFill>
                  <a:srgbClr val="585858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93776" y="3703320"/>
            <a:ext cx="11100816" cy="1217471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B2D1A7A-444D-9A10-4786-F3941F4CC0FA}"/>
              </a:ext>
            </a:extLst>
          </p:cNvPr>
          <p:cNvGrpSpPr/>
          <p:nvPr/>
        </p:nvGrpSpPr>
        <p:grpSpPr>
          <a:xfrm>
            <a:off x="704088" y="3913632"/>
            <a:ext cx="1828800" cy="246888"/>
            <a:chOff x="704088" y="3913632"/>
            <a:chExt cx="1828800" cy="246888"/>
          </a:xfrm>
        </p:grpSpPr>
        <p:sp>
          <p:nvSpPr>
            <p:cNvPr id="48" name="Rectangle 47"/>
            <p:cNvSpPr/>
            <p:nvPr/>
          </p:nvSpPr>
          <p:spPr>
            <a:xfrm>
              <a:off x="704088" y="3913632"/>
              <a:ext cx="1828800" cy="246888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4088" y="3940127"/>
              <a:ext cx="1828800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VERIFIED</a:t>
              </a:r>
              <a:r>
                <a:rPr sz="900" b="1" dirty="0">
                  <a:solidFill>
                    <a:schemeClr val="bg1"/>
                  </a:solidFill>
                  <a:latin typeface="+mn-lt"/>
                  <a:ea typeface="+mn-ea"/>
                </a:rPr>
                <a:t> </a:t>
              </a:r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CAPABILITIES</a:t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6D88DF1-1569-9E2F-0867-E04D5B20171F}"/>
              </a:ext>
            </a:extLst>
          </p:cNvPr>
          <p:cNvGrpSpPr/>
          <p:nvPr/>
        </p:nvGrpSpPr>
        <p:grpSpPr>
          <a:xfrm>
            <a:off x="713232" y="4403139"/>
            <a:ext cx="1283541" cy="257699"/>
            <a:chOff x="731520" y="4294871"/>
            <a:chExt cx="1200073" cy="257699"/>
          </a:xfrm>
        </p:grpSpPr>
        <p:sp>
          <p:nvSpPr>
            <p:cNvPr id="50" name="Oval 49"/>
            <p:cNvSpPr/>
            <p:nvPr/>
          </p:nvSpPr>
          <p:spPr>
            <a:xfrm>
              <a:off x="73152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5255" y="4294871"/>
              <a:ext cx="1026338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Lark </a:t>
              </a: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Wiki </a:t>
              </a: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Access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151218F-395E-F40D-8FFA-DDFFEF996A8C}"/>
              </a:ext>
            </a:extLst>
          </p:cNvPr>
          <p:cNvGrpSpPr/>
          <p:nvPr/>
        </p:nvGrpSpPr>
        <p:grpSpPr>
          <a:xfrm>
            <a:off x="2291522" y="4403139"/>
            <a:ext cx="2071689" cy="257699"/>
            <a:chOff x="3050514" y="4294871"/>
            <a:chExt cx="1936833" cy="257699"/>
          </a:xfrm>
        </p:grpSpPr>
        <p:sp>
          <p:nvSpPr>
            <p:cNvPr id="52" name="Oval 51"/>
            <p:cNvSpPr/>
            <p:nvPr/>
          </p:nvSpPr>
          <p:spPr>
            <a:xfrm>
              <a:off x="3050514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24251" y="4294871"/>
              <a:ext cx="1763096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Automated Document Parsing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BD79AF7-6C78-F684-2936-0B2D31C2C986}"/>
              </a:ext>
            </a:extLst>
          </p:cNvPr>
          <p:cNvGrpSpPr/>
          <p:nvPr/>
        </p:nvGrpSpPr>
        <p:grpSpPr>
          <a:xfrm>
            <a:off x="4634807" y="4403139"/>
            <a:ext cx="2341265" cy="257699"/>
            <a:chOff x="4275810" y="4295240"/>
            <a:chExt cx="2341265" cy="257699"/>
          </a:xfrm>
        </p:grpSpPr>
        <p:sp>
          <p:nvSpPr>
            <p:cNvPr id="54" name="Oval 53"/>
            <p:cNvSpPr/>
            <p:nvPr/>
          </p:nvSpPr>
          <p:spPr>
            <a:xfrm>
              <a:off x="427581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44573" y="4295240"/>
              <a:ext cx="217250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Automated Attachment Extraction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2BC9ED7-62B7-0A5C-CABE-2B5A8F53AFF0}"/>
              </a:ext>
            </a:extLst>
          </p:cNvPr>
          <p:cNvGrpSpPr/>
          <p:nvPr/>
        </p:nvGrpSpPr>
        <p:grpSpPr>
          <a:xfrm>
            <a:off x="7147759" y="4403139"/>
            <a:ext cx="2285801" cy="257699"/>
            <a:chOff x="5596128" y="4297298"/>
            <a:chExt cx="2285801" cy="257699"/>
          </a:xfrm>
        </p:grpSpPr>
        <p:sp>
          <p:nvSpPr>
            <p:cNvPr id="56" name="Oval 55"/>
            <p:cNvSpPr/>
            <p:nvPr/>
          </p:nvSpPr>
          <p:spPr>
            <a:xfrm>
              <a:off x="5596128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67864" y="4297298"/>
              <a:ext cx="2114065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Word / PDF / PPT Content Parsing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5DA3FEF-C225-C37F-41E8-54974DE101BB}"/>
              </a:ext>
            </a:extLst>
          </p:cNvPr>
          <p:cNvGrpSpPr/>
          <p:nvPr/>
        </p:nvGrpSpPr>
        <p:grpSpPr>
          <a:xfrm>
            <a:off x="9599999" y="4403139"/>
            <a:ext cx="2643816" cy="257699"/>
            <a:chOff x="7820100" y="4285956"/>
            <a:chExt cx="2643816" cy="257699"/>
          </a:xfrm>
        </p:grpSpPr>
        <p:sp>
          <p:nvSpPr>
            <p:cNvPr id="58" name="Oval 57"/>
            <p:cNvSpPr/>
            <p:nvPr/>
          </p:nvSpPr>
          <p:spPr>
            <a:xfrm>
              <a:off x="782010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13324" y="4285956"/>
              <a:ext cx="245059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AI-based Classification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493776" y="5522976"/>
            <a:ext cx="11100816" cy="475488"/>
          </a:xfrm>
          <a:prstGeom prst="rect">
            <a:avLst/>
          </a:prstGeom>
          <a:solidFill>
            <a:srgbClr val="280078"/>
          </a:solidFill>
          <a:ln>
            <a:solidFill>
              <a:srgbClr val="2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3232" y="5611609"/>
            <a:ext cx="10661904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/>
                </a:solidFill>
                <a:cs typeface="Arial" panose="020B0604020202020204" pitchFamily="34" charset="0"/>
              </a:rPr>
              <a:t>Output today: 17,105 classified docs and 17,092 readable titles. Next: 25-point scoring for RAG / External KB.</a:t>
            </a:r>
            <a:endParaRPr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53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793" y="274176"/>
            <a:ext cx="11456254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zh-CN" altLang="en-US" sz="28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Roadmap | Classification Done; Quality Scoring Is Next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/>
            </a:r>
            <a:r>
              <a:rPr lang="zh-CN" altLang="en-US" sz="28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/>
            </a:r>
            <a:r>
              <a:rPr lang="zh-CN" altLang="en-US" sz="24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/>
            </a:r>
            <a:endParaRPr lang="en-US" altLang="zh-CN" sz="24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09293"/>
            <a:ext cx="9418320" cy="338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Classification is in production. Next: daily/weekly increment and a 25-point quality-scoring pilot.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17804" y="2692738"/>
            <a:ext cx="9793224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88236" y="2539935"/>
            <a:ext cx="320040" cy="320040"/>
          </a:xfrm>
          <a:prstGeom prst="ellipse">
            <a:avLst/>
          </a:prstGeom>
          <a:solidFill>
            <a:srgbClr val="1D9767"/>
          </a:solidFill>
          <a:ln>
            <a:solidFill>
              <a:srgbClr val="1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5316" y="1897770"/>
            <a:ext cx="1325880" cy="48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1" dirty="0">
                <a:solidFill>
                  <a:srgbClr val="1D9767"/>
                </a:solidFill>
                <a:cs typeface="Arial" panose="020B0604020202020204" pitchFamily="34" charset="0"/>
              </a:rPr>
              <a:t>PHASE 1</a:t>
            </a:r>
            <a:endParaRPr lang="en-US" sz="1000" b="1" dirty="0">
              <a:solidFill>
                <a:srgbClr val="1D9767"/>
              </a:solidFill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rgbClr val="1D9767"/>
                </a:solidFill>
                <a:cs typeface="Arial" panose="020B0604020202020204" pitchFamily="34" charset="0"/>
              </a:rPr>
              <a:t>May to July</a:t>
            </a:r>
            <a:endParaRPr sz="1000" b="1" dirty="0">
              <a:solidFill>
                <a:srgbClr val="1D9767"/>
              </a:solidFill>
              <a:cs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46DE6D7-25FE-502A-B46C-EAC6CC5AC56E}"/>
              </a:ext>
            </a:extLst>
          </p:cNvPr>
          <p:cNvGrpSpPr/>
          <p:nvPr/>
        </p:nvGrpSpPr>
        <p:grpSpPr>
          <a:xfrm>
            <a:off x="640080" y="3049354"/>
            <a:ext cx="2816352" cy="1170432"/>
            <a:chOff x="640080" y="3098035"/>
            <a:chExt cx="2816352" cy="1170432"/>
          </a:xfrm>
        </p:grpSpPr>
        <p:sp>
          <p:nvSpPr>
            <p:cNvPr id="9" name="Rectangle 8"/>
            <p:cNvSpPr/>
            <p:nvPr/>
          </p:nvSpPr>
          <p:spPr>
            <a:xfrm>
              <a:off x="640080" y="3098035"/>
              <a:ext cx="2816352" cy="11704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0080" y="3098035"/>
              <a:ext cx="2816352" cy="73152"/>
            </a:xfrm>
            <a:prstGeom prst="rect">
              <a:avLst/>
            </a:prstGeom>
            <a:solidFill>
              <a:srgbClr val="1D9767"/>
            </a:solidFill>
            <a:ln>
              <a:solidFill>
                <a:srgbClr val="1D976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59536" y="3354067"/>
              <a:ext cx="2331720" cy="255455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Test</a:t>
              </a:r>
              <a:r>
                <a:rPr lang="zh-CN" altLang="en-US" sz="1300" b="1" dirty="0">
                  <a:solidFill>
                    <a:srgbClr val="2D2D2D"/>
                  </a:solidFill>
                  <a:latin typeface="Microsoft YaHei"/>
                </a:rPr>
                <a:t> 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Validation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59536" y="3765546"/>
              <a:ext cx="2331720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Workflow and classification validated</a:t>
              </a:r>
              <a:endPara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CA9D23C-9843-A60B-1B31-B86171929948}"/>
              </a:ext>
            </a:extLst>
          </p:cNvPr>
          <p:cNvGrpSpPr/>
          <p:nvPr/>
        </p:nvGrpSpPr>
        <p:grpSpPr>
          <a:xfrm>
            <a:off x="1051560" y="4448386"/>
            <a:ext cx="1993392" cy="274320"/>
            <a:chOff x="1033272" y="4497067"/>
            <a:chExt cx="1993392" cy="274320"/>
          </a:xfrm>
        </p:grpSpPr>
        <p:sp>
          <p:nvSpPr>
            <p:cNvPr id="13" name="Rectangle 12"/>
            <p:cNvSpPr/>
            <p:nvPr/>
          </p:nvSpPr>
          <p:spPr>
            <a:xfrm>
              <a:off x="1033272" y="4497067"/>
              <a:ext cx="1993392" cy="274320"/>
            </a:xfrm>
            <a:prstGeom prst="rect">
              <a:avLst/>
            </a:prstGeom>
            <a:solidFill>
              <a:srgbClr val="1D9767"/>
            </a:solidFill>
            <a:ln>
              <a:solidFill>
                <a:srgbClr val="1D976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33272" y="4514194"/>
              <a:ext cx="19933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COMPLETED</a:t>
              </a:r>
            </a:p>
          </p:txBody>
        </p:sp>
      </p:grpSp>
      <p:sp>
        <p:nvSpPr>
          <p:cNvPr id="15" name="Oval 14"/>
          <p:cNvSpPr/>
          <p:nvPr/>
        </p:nvSpPr>
        <p:spPr>
          <a:xfrm>
            <a:off x="5234940" y="2539935"/>
            <a:ext cx="320040" cy="320040"/>
          </a:xfrm>
          <a:prstGeom prst="ellipse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2020" y="1897770"/>
            <a:ext cx="1325880" cy="48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1" dirty="0">
                <a:solidFill>
                  <a:srgbClr val="00AEEF"/>
                </a:solidFill>
                <a:cs typeface="Arial" panose="020B0604020202020204" pitchFamily="34" charset="0"/>
              </a:rPr>
              <a:t>PHASE 2</a:t>
            </a:r>
            <a:endParaRPr lang="en-US" sz="1000" b="1" dirty="0">
              <a:solidFill>
                <a:srgbClr val="00AEEF"/>
              </a:solidFill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rgbClr val="00AEEF"/>
                </a:solidFill>
                <a:cs typeface="Arial" panose="020B0604020202020204" pitchFamily="34" charset="0"/>
              </a:rPr>
              <a:t>Jul–Aug</a:t>
            </a:r>
            <a:endParaRPr sz="1000" b="1" dirty="0">
              <a:solidFill>
                <a:srgbClr val="00AEEF"/>
              </a:solidFill>
              <a:cs typeface="Arial" panose="020B0604020202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9A1C649-2AE2-1A78-5819-19F0C3886E31}"/>
              </a:ext>
            </a:extLst>
          </p:cNvPr>
          <p:cNvGrpSpPr/>
          <p:nvPr/>
        </p:nvGrpSpPr>
        <p:grpSpPr>
          <a:xfrm>
            <a:off x="3986784" y="3049354"/>
            <a:ext cx="2816352" cy="1170432"/>
            <a:chOff x="3986784" y="3098035"/>
            <a:chExt cx="2816352" cy="1170432"/>
          </a:xfrm>
        </p:grpSpPr>
        <p:sp>
          <p:nvSpPr>
            <p:cNvPr id="17" name="Rectangle 16"/>
            <p:cNvSpPr/>
            <p:nvPr/>
          </p:nvSpPr>
          <p:spPr>
            <a:xfrm>
              <a:off x="3986784" y="3098035"/>
              <a:ext cx="2816352" cy="11704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986784" y="3098035"/>
              <a:ext cx="2816352" cy="73152"/>
            </a:xfrm>
            <a:prstGeom prst="rect">
              <a:avLst/>
            </a:prstGeom>
            <a:solidFill>
              <a:srgbClr val="00AEEF"/>
            </a:solidFill>
            <a:ln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86784" y="3323945"/>
              <a:ext cx="2816351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~17,105 Docs Classified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83380" y="3765545"/>
              <a:ext cx="2331720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Production hub live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532FAD8-0BD0-0177-D8EB-D31371812CEF}"/>
              </a:ext>
            </a:extLst>
          </p:cNvPr>
          <p:cNvGrpSpPr/>
          <p:nvPr/>
        </p:nvGrpSpPr>
        <p:grpSpPr>
          <a:xfrm>
            <a:off x="4398264" y="4448386"/>
            <a:ext cx="1993392" cy="274320"/>
            <a:chOff x="4379976" y="4497067"/>
            <a:chExt cx="1993392" cy="274320"/>
          </a:xfrm>
        </p:grpSpPr>
        <p:sp>
          <p:nvSpPr>
            <p:cNvPr id="21" name="Rectangle 20"/>
            <p:cNvSpPr/>
            <p:nvPr/>
          </p:nvSpPr>
          <p:spPr>
            <a:xfrm>
              <a:off x="4379976" y="4497067"/>
              <a:ext cx="1993392" cy="274320"/>
            </a:xfrm>
            <a:prstGeom prst="rect">
              <a:avLst/>
            </a:prstGeom>
            <a:solidFill>
              <a:srgbClr val="00AEEF"/>
            </a:solidFill>
            <a:ln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77740" y="4514195"/>
              <a:ext cx="1197864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COMPLETED</a:t>
              </a:r>
            </a:p>
          </p:txBody>
        </p:sp>
      </p:grpSp>
      <p:sp>
        <p:nvSpPr>
          <p:cNvPr id="23" name="Oval 22"/>
          <p:cNvSpPr/>
          <p:nvPr/>
        </p:nvSpPr>
        <p:spPr>
          <a:xfrm>
            <a:off x="9011411" y="2539935"/>
            <a:ext cx="320040" cy="320040"/>
          </a:xfrm>
          <a:prstGeom prst="ellipse">
            <a:avLst/>
          </a:prstGeom>
          <a:solidFill>
            <a:srgbClr val="280078"/>
          </a:solidFill>
          <a:ln>
            <a:solidFill>
              <a:srgbClr val="2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8491" y="1960448"/>
            <a:ext cx="13258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dirty="0">
                <a:solidFill>
                  <a:srgbClr val="280078"/>
                </a:solidFill>
                <a:cs typeface="Arial" panose="020B0604020202020204" pitchFamily="34" charset="0"/>
              </a:rPr>
              <a:t>PHASE 3</a:t>
            </a:r>
            <a:r>
              <a:rPr sz="1000" b="1" dirty="0">
                <a:solidFill>
                  <a:srgbClr val="280078"/>
                </a:solidFill>
                <a:latin typeface="Arial"/>
              </a:rPr>
              <a:t/>
            </a:r>
            <a:r>
              <a:rPr sz="1000" b="1" dirty="0">
                <a:solidFill>
                  <a:srgbClr val="280078"/>
                </a:solidFill>
                <a:cs typeface="Arial" panose="020B0604020202020204" pitchFamily="34" charset="0"/>
              </a:rPr>
              <a:t/>
            </a:r>
            <a:endParaRPr lang="en-US" sz="1000" b="1" dirty="0">
              <a:solidFill>
                <a:srgbClr val="280078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1000" b="1" dirty="0">
                <a:solidFill>
                  <a:srgbClr val="280078"/>
                </a:solidFill>
                <a:cs typeface="Arial" panose="020B0604020202020204" pitchFamily="34" charset="0"/>
              </a:rPr>
              <a:t>Now / Pilot</a:t>
            </a:r>
            <a:r>
              <a:rPr lang="en-US" sz="1000" b="1" dirty="0">
                <a:solidFill>
                  <a:srgbClr val="280078"/>
                </a:solidFill>
                <a:latin typeface="Arial"/>
              </a:rPr>
              <a:t/>
            </a:r>
            <a:r>
              <a:rPr lang="en-US" sz="1000" b="1" dirty="0">
                <a:solidFill>
                  <a:srgbClr val="280078"/>
                </a:solidFill>
                <a:cs typeface="Arial" panose="020B0604020202020204" pitchFamily="34" charset="0"/>
              </a:rPr>
              <a:t/>
            </a:r>
            <a:r>
              <a:rPr lang="en-US" sz="1000" b="1" dirty="0">
                <a:solidFill>
                  <a:srgbClr val="280078"/>
                </a:solidFill>
                <a:latin typeface="Arial"/>
              </a:rPr>
              <a:t/>
            </a:r>
            <a:r>
              <a:rPr lang="en-US" sz="1000" b="1" dirty="0">
                <a:solidFill>
                  <a:srgbClr val="280078"/>
                </a:solidFill>
                <a:cs typeface="Arial" panose="020B0604020202020204" pitchFamily="34" charset="0"/>
              </a:rPr>
              <a:t/>
            </a:r>
            <a:endParaRPr sz="1000" b="1" dirty="0">
              <a:solidFill>
                <a:srgbClr val="280078"/>
              </a:solidFill>
              <a:cs typeface="Arial" panose="020B0604020202020204" pitchFamily="34" charset="0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6DD4BE5-C33E-6E5E-6686-35E7CC82306C}"/>
              </a:ext>
            </a:extLst>
          </p:cNvPr>
          <p:cNvGrpSpPr/>
          <p:nvPr/>
        </p:nvGrpSpPr>
        <p:grpSpPr>
          <a:xfrm>
            <a:off x="7763255" y="3049354"/>
            <a:ext cx="2816352" cy="1170432"/>
            <a:chOff x="7763255" y="3098035"/>
            <a:chExt cx="2816352" cy="1170432"/>
          </a:xfrm>
        </p:grpSpPr>
        <p:sp>
          <p:nvSpPr>
            <p:cNvPr id="25" name="Rectangle 24"/>
            <p:cNvSpPr/>
            <p:nvPr/>
          </p:nvSpPr>
          <p:spPr>
            <a:xfrm>
              <a:off x="7763255" y="3098035"/>
              <a:ext cx="2816352" cy="11704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763255" y="3098035"/>
              <a:ext cx="2816352" cy="73152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05570" y="3204955"/>
              <a:ext cx="2331720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Quality + Increment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05571" y="3478475"/>
              <a:ext cx="2505457" cy="771237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Daily/weekly increment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25-pt scoring pilot (~100 docs)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Monthly quality review</a:t>
              </a:r>
              <a:endPara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Human confirm before publish</a:t>
              </a:r>
              <a:endParaRPr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0A14567-C108-4041-7FD6-B2EA48EE27D5}"/>
              </a:ext>
            </a:extLst>
          </p:cNvPr>
          <p:cNvGrpSpPr/>
          <p:nvPr/>
        </p:nvGrpSpPr>
        <p:grpSpPr>
          <a:xfrm>
            <a:off x="8174735" y="4448386"/>
            <a:ext cx="1993392" cy="274320"/>
            <a:chOff x="8156448" y="4497067"/>
            <a:chExt cx="1993392" cy="274320"/>
          </a:xfrm>
        </p:grpSpPr>
        <p:sp>
          <p:nvSpPr>
            <p:cNvPr id="29" name="Rectangle 28"/>
            <p:cNvSpPr/>
            <p:nvPr/>
          </p:nvSpPr>
          <p:spPr>
            <a:xfrm>
              <a:off x="8156448" y="4497067"/>
              <a:ext cx="1993392" cy="27432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56448" y="4514194"/>
              <a:ext cx="19933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IN PROGRESS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640080" y="5309446"/>
            <a:ext cx="1481328" cy="246888"/>
          </a:xfrm>
          <a:prstGeom prst="rect">
            <a:avLst/>
          </a:prstGeom>
          <a:solidFill>
            <a:srgbClr val="FA0505"/>
          </a:solidFill>
          <a:ln>
            <a:solidFill>
              <a:srgbClr val="FA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35941"/>
            <a:ext cx="1481328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GOVERNANCE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FEAD5C6-D45A-6921-27C5-E455E11273A4}"/>
              </a:ext>
            </a:extLst>
          </p:cNvPr>
          <p:cNvGrpSpPr/>
          <p:nvPr/>
        </p:nvGrpSpPr>
        <p:grpSpPr>
          <a:xfrm>
            <a:off x="758952" y="5766324"/>
            <a:ext cx="1936622" cy="257699"/>
            <a:chOff x="598931" y="5668446"/>
            <a:chExt cx="1936622" cy="257699"/>
          </a:xfrm>
        </p:grpSpPr>
        <p:sp>
          <p:nvSpPr>
            <p:cNvPr id="34" name="TextBox 33"/>
            <p:cNvSpPr txBox="1"/>
            <p:nvPr/>
          </p:nvSpPr>
          <p:spPr>
            <a:xfrm>
              <a:off x="598931" y="5733288"/>
              <a:ext cx="868680" cy="146304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850" b="1" dirty="0">
                  <a:solidFill>
                    <a:srgbClr val="FA0505"/>
                  </a:solidFill>
                  <a:latin typeface="Arial"/>
                </a:rPr>
                <a:t>INGEST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91969" y="5668446"/>
              <a:ext cx="1243584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New Content Intake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127248" y="5803734"/>
            <a:ext cx="2011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A0505"/>
                </a:solidFill>
                <a:latin typeface="Microsoft Ya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20CDC11-10CC-8A78-8A7E-0ED1482367A2}"/>
              </a:ext>
            </a:extLst>
          </p:cNvPr>
          <p:cNvGrpSpPr/>
          <p:nvPr/>
        </p:nvGrpSpPr>
        <p:grpSpPr>
          <a:xfrm>
            <a:off x="3529584" y="5763955"/>
            <a:ext cx="2121408" cy="257699"/>
            <a:chOff x="3429000" y="5620869"/>
            <a:chExt cx="2121408" cy="257699"/>
          </a:xfrm>
        </p:grpSpPr>
        <p:sp>
          <p:nvSpPr>
            <p:cNvPr id="38" name="TextBox 37"/>
            <p:cNvSpPr txBox="1"/>
            <p:nvPr/>
          </p:nvSpPr>
          <p:spPr>
            <a:xfrm>
              <a:off x="3429000" y="5687568"/>
              <a:ext cx="868680" cy="146304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850" b="1" dirty="0">
                  <a:solidFill>
                    <a:srgbClr val="FA0505"/>
                  </a:solidFill>
                  <a:latin typeface="Arial"/>
                </a:rPr>
                <a:t>CLASSIFY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82796" y="5620869"/>
              <a:ext cx="146761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AI-based Classification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916168" y="5794590"/>
            <a:ext cx="2011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A0505"/>
                </a:solidFill>
                <a:latin typeface="Microsoft YaHe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71" y="5830654"/>
            <a:ext cx="86868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 dirty="0">
                <a:solidFill>
                  <a:srgbClr val="FA0505"/>
                </a:solidFill>
                <a:latin typeface="Arial"/>
              </a:rPr>
              <a:t>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0299" y="5812366"/>
            <a:ext cx="156362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25-pt Quality Score</a:t>
            </a:r>
            <a:r>
              <a:rPr lang="zh-CN" altLang="en-US" sz="1000" b="1" dirty="0">
                <a:solidFill>
                  <a:srgbClr val="2D2D2D"/>
                </a:solidFill>
                <a:latin typeface="Microsoft YaHei"/>
              </a:rPr>
              <a:t/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/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05088" y="5812366"/>
            <a:ext cx="2011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A0505"/>
                </a:solidFill>
                <a:latin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39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89720" y="5830654"/>
            <a:ext cx="86868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 dirty="0">
                <a:solidFill>
                  <a:srgbClr val="FA0505"/>
                </a:solidFill>
                <a:latin typeface="Arial"/>
              </a:rPr>
              <a:t>IMPROVE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34371" y="5769333"/>
            <a:ext cx="1476757" cy="2576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Rules &amp; Optimization</a:t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19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499" y="269589"/>
            <a:ext cx="11803914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tabLst>
                <a:tab pos="3676650" algn="l"/>
              </a:tabLst>
            </a:pPr>
            <a:r>
              <a:rPr lang="zh-CN" altLang="en-US" sz="28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Value | </a:t>
            </a:r>
            <a:r>
              <a:rPr lang="zh-CN" altLang="en-US" sz="24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Transforming FAE Experience into Reusable Intelligent Assets</a:t>
            </a:r>
            <a:endParaRPr lang="en-US" altLang="zh-CN" sz="24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776" y="1120273"/>
            <a:ext cx="11157142" cy="98495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Value is minutes saved on filing and search, a reusable hub, and a quality bar other AI apps can trust.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AD158BA-052C-131A-1C5D-94B3C8BB805C}"/>
              </a:ext>
            </a:extLst>
          </p:cNvPr>
          <p:cNvGrpSpPr/>
          <p:nvPr/>
        </p:nvGrpSpPr>
        <p:grpSpPr>
          <a:xfrm>
            <a:off x="493776" y="2231422"/>
            <a:ext cx="4745735" cy="987552"/>
            <a:chOff x="493776" y="1993392"/>
            <a:chExt cx="4745735" cy="987552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AB9CF60-84D5-1086-0BDE-163D3F905D66}"/>
                </a:ext>
              </a:extLst>
            </p:cNvPr>
            <p:cNvGrpSpPr/>
            <p:nvPr/>
          </p:nvGrpSpPr>
          <p:grpSpPr>
            <a:xfrm>
              <a:off x="493776" y="1993392"/>
              <a:ext cx="822960" cy="246888"/>
              <a:chOff x="493776" y="1993392"/>
              <a:chExt cx="822960" cy="246888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493776" y="1993392"/>
                <a:ext cx="822960" cy="246888"/>
              </a:xfrm>
              <a:prstGeom prst="rect">
                <a:avLst/>
              </a:prstGeom>
              <a:solidFill>
                <a:srgbClr val="2D2D2D"/>
              </a:solidFill>
              <a:ln>
                <a:solidFill>
                  <a:srgbClr val="2D2D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93776" y="2019887"/>
                <a:ext cx="822960" cy="1938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BEFORE</a:t>
                </a: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D94EFB3-2C56-444B-56F9-63F0FBCB88D2}"/>
                </a:ext>
              </a:extLst>
            </p:cNvPr>
            <p:cNvGrpSpPr/>
            <p:nvPr/>
          </p:nvGrpSpPr>
          <p:grpSpPr>
            <a:xfrm>
              <a:off x="493776" y="2404872"/>
              <a:ext cx="1417320" cy="576072"/>
              <a:chOff x="493776" y="2404872"/>
              <a:chExt cx="1417320" cy="576072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93776" y="2404872"/>
                <a:ext cx="1417320" cy="576072"/>
              </a:xfrm>
              <a:prstGeom prst="rect">
                <a:avLst/>
              </a:prstGeom>
              <a:solidFill>
                <a:srgbClr val="F4F5F8"/>
              </a:solidFill>
              <a:ln>
                <a:solidFill>
                  <a:srgbClr val="D2D2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76072" y="2610612"/>
                <a:ext cx="125272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FAE</a:t>
                </a:r>
                <a:r>
                  <a:rPr sz="1200" b="1" dirty="0">
                    <a:solidFill>
                      <a:srgbClr val="585858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Sharing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920240" y="2578608"/>
              <a:ext cx="201168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585858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67EA48E0-EF2A-8062-E79F-8DE56C227ADC}"/>
                </a:ext>
              </a:extLst>
            </p:cNvPr>
            <p:cNvGrpSpPr/>
            <p:nvPr/>
          </p:nvGrpSpPr>
          <p:grpSpPr>
            <a:xfrm>
              <a:off x="2157984" y="2404872"/>
              <a:ext cx="1417320" cy="576072"/>
              <a:chOff x="2157984" y="2404872"/>
              <a:chExt cx="1417320" cy="576072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157984" y="2404872"/>
                <a:ext cx="1417320" cy="576072"/>
              </a:xfrm>
              <a:prstGeom prst="rect">
                <a:avLst/>
              </a:prstGeom>
              <a:solidFill>
                <a:srgbClr val="F4F5F8"/>
              </a:solidFill>
              <a:ln>
                <a:solidFill>
                  <a:srgbClr val="D2D2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240280" y="2610612"/>
                <a:ext cx="1252728" cy="224677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cs typeface="Arial" panose="020B0604020202020204" pitchFamily="34" charset="0"/>
                  </a:rPr>
                  <a:t>Document</a:t>
                </a:r>
                <a:r>
                  <a:rPr sz="1100" b="1" dirty="0">
                    <a:solidFill>
                      <a:srgbClr val="585858"/>
                    </a:solidFill>
                    <a:latin typeface="+mn-lt"/>
                    <a:ea typeface="+mn-ea"/>
                  </a:rPr>
                  <a:t> </a:t>
                </a:r>
                <a:r>
                  <a:rPr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cs typeface="Arial" panose="020B0604020202020204" pitchFamily="34" charset="0"/>
                  </a:rPr>
                  <a:t>Storage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3584448" y="2578608"/>
              <a:ext cx="201168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585858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70D1B07-B458-2BCA-4FA2-C178B43BDC02}"/>
                </a:ext>
              </a:extLst>
            </p:cNvPr>
            <p:cNvGrpSpPr/>
            <p:nvPr/>
          </p:nvGrpSpPr>
          <p:grpSpPr>
            <a:xfrm>
              <a:off x="3822191" y="2404872"/>
              <a:ext cx="1417320" cy="576072"/>
              <a:chOff x="3822191" y="2404872"/>
              <a:chExt cx="1417320" cy="576072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3822191" y="2404872"/>
                <a:ext cx="1417320" cy="576072"/>
              </a:xfrm>
              <a:prstGeom prst="rect">
                <a:avLst/>
              </a:prstGeom>
              <a:solidFill>
                <a:srgbClr val="F4F5F8"/>
              </a:solidFill>
              <a:ln>
                <a:solidFill>
                  <a:srgbClr val="D2D2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904487" y="2610612"/>
                <a:ext cx="125272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Manual</a:t>
                </a:r>
                <a:r>
                  <a:rPr sz="919" b="1" dirty="0">
                    <a:solidFill>
                      <a:srgbClr val="585858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Search</a:t>
                </a:r>
              </a:p>
            </p:txBody>
          </p:sp>
        </p:grp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1500C17-2A3B-5964-7924-88F997ABAB29}"/>
              </a:ext>
            </a:extLst>
          </p:cNvPr>
          <p:cNvGrpSpPr/>
          <p:nvPr/>
        </p:nvGrpSpPr>
        <p:grpSpPr>
          <a:xfrm>
            <a:off x="502920" y="3811048"/>
            <a:ext cx="5504688" cy="1033272"/>
            <a:chOff x="493776" y="3328416"/>
            <a:chExt cx="5504688" cy="1033272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AA2AE1A7-ECC7-21DA-8CCF-1A4F8EEA6856}"/>
                </a:ext>
              </a:extLst>
            </p:cNvPr>
            <p:cNvGrpSpPr/>
            <p:nvPr/>
          </p:nvGrpSpPr>
          <p:grpSpPr>
            <a:xfrm>
              <a:off x="493776" y="3328416"/>
              <a:ext cx="713232" cy="246888"/>
              <a:chOff x="493776" y="3328416"/>
              <a:chExt cx="713232" cy="246888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93776" y="3328416"/>
                <a:ext cx="713232" cy="246888"/>
              </a:xfrm>
              <a:prstGeom prst="rect">
                <a:avLst/>
              </a:prstGeom>
              <a:solidFill>
                <a:srgbClr val="FA0505"/>
              </a:solidFill>
              <a:ln>
                <a:solidFill>
                  <a:srgbClr val="FA05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93776" y="3354911"/>
                <a:ext cx="713232" cy="1938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NOW</a:t>
                </a: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126C71FC-7B08-B475-1D15-8AA04527EE2C}"/>
                </a:ext>
              </a:extLst>
            </p:cNvPr>
            <p:cNvGrpSpPr/>
            <p:nvPr/>
          </p:nvGrpSpPr>
          <p:grpSpPr>
            <a:xfrm>
              <a:off x="493776" y="3721608"/>
              <a:ext cx="1197864" cy="640080"/>
              <a:chOff x="493776" y="3721608"/>
              <a:chExt cx="1197864" cy="64008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93776" y="3721608"/>
                <a:ext cx="1197864" cy="64008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57784" y="3921615"/>
                <a:ext cx="106984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FAE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Sharing</a:t>
                </a: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700784" y="3913632"/>
              <a:ext cx="1645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FA0505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A24D1BC9-D697-6F68-921D-94E9B07A7728}"/>
                </a:ext>
              </a:extLst>
            </p:cNvPr>
            <p:cNvGrpSpPr/>
            <p:nvPr/>
          </p:nvGrpSpPr>
          <p:grpSpPr>
            <a:xfrm>
              <a:off x="1929384" y="3721608"/>
              <a:ext cx="1197864" cy="640080"/>
              <a:chOff x="1929384" y="3721608"/>
              <a:chExt cx="1197864" cy="64008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929384" y="3721608"/>
                <a:ext cx="1197864" cy="64008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993392" y="3829282"/>
                <a:ext cx="1069848" cy="4247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AI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Understanding</a:t>
                </a: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3136392" y="3913632"/>
              <a:ext cx="1645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FA0505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CAA8167C-CB77-8A23-C2FB-6F3FEBD8A65E}"/>
                </a:ext>
              </a:extLst>
            </p:cNvPr>
            <p:cNvGrpSpPr/>
            <p:nvPr/>
          </p:nvGrpSpPr>
          <p:grpSpPr>
            <a:xfrm>
              <a:off x="3364992" y="3721608"/>
              <a:ext cx="1197864" cy="640080"/>
              <a:chOff x="3364992" y="3721608"/>
              <a:chExt cx="1197864" cy="64008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3364992" y="3721608"/>
                <a:ext cx="1197864" cy="64008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429000" y="3829282"/>
                <a:ext cx="1069848" cy="4247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Structured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Asset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4572000" y="3913632"/>
              <a:ext cx="1645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FA0505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A2987B79-DACD-464C-40A2-0205906B090E}"/>
                </a:ext>
              </a:extLst>
            </p:cNvPr>
            <p:cNvGrpSpPr/>
            <p:nvPr/>
          </p:nvGrpSpPr>
          <p:grpSpPr>
            <a:xfrm>
              <a:off x="4800600" y="3721608"/>
              <a:ext cx="1197864" cy="640080"/>
              <a:chOff x="4800600" y="3721608"/>
              <a:chExt cx="1197864" cy="64008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4800600" y="3721608"/>
                <a:ext cx="1197864" cy="64008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64608" y="3921615"/>
                <a:ext cx="106984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AI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Applications</a:t>
                </a:r>
              </a:p>
            </p:txBody>
          </p:sp>
        </p:grpSp>
      </p:grpSp>
      <p:sp>
        <p:nvSpPr>
          <p:cNvPr id="29" name="TextBox 28"/>
          <p:cNvSpPr txBox="1"/>
          <p:nvPr/>
        </p:nvSpPr>
        <p:spPr>
          <a:xfrm>
            <a:off x="493775" y="5719859"/>
            <a:ext cx="6475413" cy="57522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Already delivered: 17,105 classified docs · 17,092 standard titles · ~1 FTE-year backlog cleared.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42C5CC3-AE47-54DB-F4E7-D5CAB181A95D}"/>
              </a:ext>
            </a:extLst>
          </p:cNvPr>
          <p:cNvGrpSpPr/>
          <p:nvPr/>
        </p:nvGrpSpPr>
        <p:grpSpPr>
          <a:xfrm>
            <a:off x="6969189" y="2215133"/>
            <a:ext cx="4901184" cy="2633472"/>
            <a:chOff x="6729984" y="1993392"/>
            <a:chExt cx="4901184" cy="263347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98FD548-73EB-0ADB-C02B-39EFEE621BE4}"/>
                </a:ext>
              </a:extLst>
            </p:cNvPr>
            <p:cNvGrpSpPr/>
            <p:nvPr/>
          </p:nvGrpSpPr>
          <p:grpSpPr>
            <a:xfrm>
              <a:off x="6729984" y="1993392"/>
              <a:ext cx="1572768" cy="246888"/>
              <a:chOff x="6729984" y="1993392"/>
              <a:chExt cx="1572768" cy="246888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6729984" y="1993392"/>
                <a:ext cx="1572768" cy="246888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729984" y="2019887"/>
                <a:ext cx="1572768" cy="1938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Potential</a:t>
                </a:r>
                <a:r>
                  <a:rPr lang="zh-CN" altLang="en-US" sz="9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Applications</a:t>
                </a:r>
                <a:endParaRPr sz="9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D4ECD309-B223-C331-3A78-02900B2A992B}"/>
                </a:ext>
              </a:extLst>
            </p:cNvPr>
            <p:cNvGrpSpPr/>
            <p:nvPr/>
          </p:nvGrpSpPr>
          <p:grpSpPr>
            <a:xfrm>
              <a:off x="6729984" y="2423160"/>
              <a:ext cx="2267712" cy="1005840"/>
              <a:chOff x="6729984" y="2423160"/>
              <a:chExt cx="2267712" cy="1005840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6729984" y="2423160"/>
                <a:ext cx="2267712" cy="100584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6885432" y="2624328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Online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FAE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Support</a:t>
                </a:r>
                <a:endParaRPr sz="12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885432" y="2887909"/>
                <a:ext cx="1956816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Quick access to the knowledge base and historical solutions.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D5715DD0-DE71-4DF9-8D76-A019149566D8}"/>
                </a:ext>
              </a:extLst>
            </p:cNvPr>
            <p:cNvGrpSpPr/>
            <p:nvPr/>
          </p:nvGrpSpPr>
          <p:grpSpPr>
            <a:xfrm>
              <a:off x="9180576" y="2423160"/>
              <a:ext cx="2450592" cy="1005840"/>
              <a:chOff x="9180576" y="2423160"/>
              <a:chExt cx="2450592" cy="1005840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9180576" y="2423160"/>
                <a:ext cx="2267712" cy="100584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9336024" y="2624328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Website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QchatBot</a:t>
                </a:r>
                <a:endParaRPr sz="12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9336024" y="2870462"/>
                <a:ext cx="2295144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Online technical Q&amp;A</a:t>
                </a:r>
                <a:endParaRPr lang="en-US" altLang="zh-CN"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(selected external-facing documents)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3F67AEE9-14B9-F184-C111-E7CCF396BB74}"/>
                </a:ext>
              </a:extLst>
            </p:cNvPr>
            <p:cNvGrpSpPr/>
            <p:nvPr/>
          </p:nvGrpSpPr>
          <p:grpSpPr>
            <a:xfrm>
              <a:off x="6729984" y="3621024"/>
              <a:ext cx="2267712" cy="1005840"/>
              <a:chOff x="6729984" y="3621024"/>
              <a:chExt cx="2267712" cy="100584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6729984" y="3621024"/>
                <a:ext cx="2267712" cy="1005840"/>
              </a:xfrm>
              <a:prstGeom prst="rect">
                <a:avLst/>
              </a:prstGeom>
              <a:solidFill>
                <a:srgbClr val="2D2D2D"/>
              </a:solidFill>
              <a:ln>
                <a:solidFill>
                  <a:srgbClr val="2D2D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885432" y="3822191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Forum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Bot</a:t>
                </a:r>
                <a:endParaRPr sz="12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885432" y="4095208"/>
                <a:ext cx="1956816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Forum responses that enrich</a:t>
                </a:r>
                <a:endParaRPr lang="en-US" altLang="zh-CN"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technical community knowledge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0A021F35-35F1-F583-9D27-0B0993BDDE6D}"/>
                </a:ext>
              </a:extLst>
            </p:cNvPr>
            <p:cNvGrpSpPr/>
            <p:nvPr/>
          </p:nvGrpSpPr>
          <p:grpSpPr>
            <a:xfrm>
              <a:off x="9180576" y="3621024"/>
              <a:ext cx="2267712" cy="1005840"/>
              <a:chOff x="9180576" y="3621024"/>
              <a:chExt cx="2267712" cy="1005840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9180576" y="3621024"/>
                <a:ext cx="2267712" cy="1005840"/>
              </a:xfrm>
              <a:prstGeom prst="rect">
                <a:avLst/>
              </a:prstGeom>
              <a:solidFill>
                <a:srgbClr val="00AEEF"/>
              </a:solidFill>
              <a:ln>
                <a:solidFill>
                  <a:srgbClr val="00AE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9336024" y="3822191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New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FAE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Training</a:t>
                </a:r>
                <a:endParaRPr sz="12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9336024" y="4090173"/>
                <a:ext cx="1956816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Mentor-led onboarding</a:t>
                </a:r>
                <a:endParaRPr lang="en-US" altLang="zh-CN" sz="1000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skill map and knowledge topics</a:t>
                </a:r>
                <a:endParaRPr sz="1000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6" name="TextBox 45"/>
          <p:cNvSpPr txBox="1"/>
          <p:nvPr/>
        </p:nvSpPr>
        <p:spPr>
          <a:xfrm>
            <a:off x="6969189" y="5629451"/>
            <a:ext cx="4681728" cy="57522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Find it. Score it. Reuse it.</a:t>
            </a: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~1.7 FTE/year ongoing after the backlog.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754840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7468" y="309241"/>
            <a:ext cx="1150400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spcBef>
                <a:spcPts val="615"/>
              </a:spcBef>
              <a:tabLst>
                <a:tab pos="3676650" algn="l"/>
              </a:tabLst>
            </a:pPr>
            <a:r>
              <a:rPr lang="zh-CN" altLang="en-US" sz="32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Impact | Before vs After Efficiency (Judge / Boss KPIs)</a:t>
            </a:r>
            <a:endParaRPr lang="en-US" altLang="zh-CN" sz="32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7" y="1248353"/>
            <a:ext cx="9784080" cy="338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Efficiency % = (before − after) / before. Annual FTE = hours saved / 2000. Not “headcount × %”.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E993498-A085-603A-0BDA-A0B1894F0A8B}"/>
              </a:ext>
            </a:extLst>
          </p:cNvPr>
          <p:cNvGrpSpPr/>
          <p:nvPr/>
        </p:nvGrpSpPr>
        <p:grpSpPr>
          <a:xfrm>
            <a:off x="493776" y="2048256"/>
            <a:ext cx="1335024" cy="1060704"/>
            <a:chOff x="493776" y="2048256"/>
            <a:chExt cx="1335024" cy="1060704"/>
          </a:xfrm>
        </p:grpSpPr>
        <p:sp>
          <p:nvSpPr>
            <p:cNvPr id="6" name="Rectangle 5"/>
            <p:cNvSpPr/>
            <p:nvPr/>
          </p:nvSpPr>
          <p:spPr>
            <a:xfrm>
              <a:off x="49377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3776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FILE</a:t>
              </a:r>
              <a:r>
                <a:rPr sz="1200" b="1" dirty="0">
                  <a:solidFill>
                    <a:srgbClr val="2D2D2D"/>
                  </a:solidFill>
                  <a:ea typeface="+mn-ea"/>
                  <a:cs typeface="Arial" panose="020B0604020202020204" pitchFamily="34" charset="0"/>
                </a:rPr>
                <a:t/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5 → 0.5 min / doc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182880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0F8ECDE-4347-5E68-8F35-06E6E4449B66}"/>
              </a:ext>
            </a:extLst>
          </p:cNvPr>
          <p:cNvGrpSpPr/>
          <p:nvPr/>
        </p:nvGrpSpPr>
        <p:grpSpPr>
          <a:xfrm>
            <a:off x="2121408" y="2048256"/>
            <a:ext cx="1335024" cy="1060704"/>
            <a:chOff x="2121408" y="2048256"/>
            <a:chExt cx="1335024" cy="1060704"/>
          </a:xfrm>
        </p:grpSpPr>
        <p:sp>
          <p:nvSpPr>
            <p:cNvPr id="12" name="Rectangle 11"/>
            <p:cNvSpPr/>
            <p:nvPr/>
          </p:nvSpPr>
          <p:spPr>
            <a:xfrm>
              <a:off x="2121408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21408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6771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6771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SEARCH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67712" y="2779776"/>
              <a:ext cx="1179575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15 → 3 min / query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7" name="Connector 16"/>
          <p:cNvCxnSpPr/>
          <p:nvPr/>
        </p:nvCxnSpPr>
        <p:spPr>
          <a:xfrm>
            <a:off x="3456432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B987F07-8B39-205C-F242-695C6EAD9446}"/>
              </a:ext>
            </a:extLst>
          </p:cNvPr>
          <p:cNvGrpSpPr/>
          <p:nvPr/>
        </p:nvGrpSpPr>
        <p:grpSpPr>
          <a:xfrm>
            <a:off x="3749039" y="2048256"/>
            <a:ext cx="1335024" cy="1060704"/>
            <a:chOff x="3749039" y="2048256"/>
            <a:chExt cx="1335024" cy="1060704"/>
          </a:xfrm>
        </p:grpSpPr>
        <p:sp>
          <p:nvSpPr>
            <p:cNvPr id="18" name="Rectangle 17"/>
            <p:cNvSpPr/>
            <p:nvPr/>
          </p:nvSpPr>
          <p:spPr>
            <a:xfrm>
              <a:off x="3749039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749039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5344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344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TITLES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5344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2 → 0 min / doc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cxnSp>
        <p:nvCxnSpPr>
          <p:cNvPr id="23" name="Connector 22"/>
          <p:cNvCxnSpPr/>
          <p:nvPr/>
        </p:nvCxnSpPr>
        <p:spPr>
          <a:xfrm>
            <a:off x="5084064" y="2578608"/>
            <a:ext cx="283463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EE0949-CF44-9AFD-E3A3-C100F75B5E99}"/>
              </a:ext>
            </a:extLst>
          </p:cNvPr>
          <p:cNvGrpSpPr/>
          <p:nvPr/>
        </p:nvGrpSpPr>
        <p:grpSpPr>
          <a:xfrm>
            <a:off x="5376672" y="2048256"/>
            <a:ext cx="1344167" cy="1060704"/>
            <a:chOff x="5376672" y="2048256"/>
            <a:chExt cx="1344167" cy="1060704"/>
          </a:xfrm>
        </p:grpSpPr>
        <p:sp>
          <p:nvSpPr>
            <p:cNvPr id="24" name="Rectangle 23"/>
            <p:cNvSpPr/>
            <p:nvPr/>
          </p:nvSpPr>
          <p:spPr>
            <a:xfrm>
              <a:off x="5376672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376672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22976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22976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ATTACH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13832" y="2795165"/>
              <a:ext cx="1207007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8 → 2 min / file</a:t>
              </a:r>
              <a:r>
                <a:rPr sz="9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cxnSp>
        <p:nvCxnSpPr>
          <p:cNvPr id="29" name="Connector 28"/>
          <p:cNvCxnSpPr/>
          <p:nvPr/>
        </p:nvCxnSpPr>
        <p:spPr>
          <a:xfrm>
            <a:off x="6711696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23FF996-3485-4444-2DDC-FC353DEF004F}"/>
              </a:ext>
            </a:extLst>
          </p:cNvPr>
          <p:cNvGrpSpPr/>
          <p:nvPr/>
        </p:nvGrpSpPr>
        <p:grpSpPr>
          <a:xfrm>
            <a:off x="7004304" y="2048256"/>
            <a:ext cx="1335024" cy="1060704"/>
            <a:chOff x="7004304" y="2048256"/>
            <a:chExt cx="1335024" cy="1060704"/>
          </a:xfrm>
        </p:grpSpPr>
        <p:sp>
          <p:nvSpPr>
            <p:cNvPr id="30" name="Rectangle 29"/>
            <p:cNvSpPr/>
            <p:nvPr/>
          </p:nvSpPr>
          <p:spPr>
            <a:xfrm>
              <a:off x="7004304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004304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50608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50608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BACKLOG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50608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~1 FTE-year · DONE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cxnSp>
        <p:nvCxnSpPr>
          <p:cNvPr id="35" name="Connector 34"/>
          <p:cNvCxnSpPr/>
          <p:nvPr/>
        </p:nvCxnSpPr>
        <p:spPr>
          <a:xfrm>
            <a:off x="8339328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89EB3B1-284B-CE3E-2852-2BDFFF5B090D}"/>
              </a:ext>
            </a:extLst>
          </p:cNvPr>
          <p:cNvGrpSpPr/>
          <p:nvPr/>
        </p:nvGrpSpPr>
        <p:grpSpPr>
          <a:xfrm>
            <a:off x="8631936" y="2048256"/>
            <a:ext cx="1335024" cy="1060704"/>
            <a:chOff x="8631936" y="2048256"/>
            <a:chExt cx="1335024" cy="1060704"/>
          </a:xfrm>
        </p:grpSpPr>
        <p:sp>
          <p:nvSpPr>
            <p:cNvPr id="36" name="Rectangle 35"/>
            <p:cNvSpPr/>
            <p:nvPr/>
          </p:nvSpPr>
          <p:spPr>
            <a:xfrm>
              <a:off x="863193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631936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77824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06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77824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ANNUAL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7824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~1.7 FTE / year</a:t>
              </a:r>
              <a:r>
                <a:rPr 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41" name="Connector 40"/>
          <p:cNvCxnSpPr/>
          <p:nvPr/>
        </p:nvCxnSpPr>
        <p:spPr>
          <a:xfrm>
            <a:off x="996696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5FD0BDD-81ED-E816-319C-37D9C4FA6BB3}"/>
              </a:ext>
            </a:extLst>
          </p:cNvPr>
          <p:cNvGrpSpPr/>
          <p:nvPr/>
        </p:nvGrpSpPr>
        <p:grpSpPr>
          <a:xfrm>
            <a:off x="10259567" y="2048256"/>
            <a:ext cx="1335024" cy="1060704"/>
            <a:chOff x="10259567" y="2048256"/>
            <a:chExt cx="1335024" cy="1060704"/>
          </a:xfrm>
        </p:grpSpPr>
        <p:sp>
          <p:nvSpPr>
            <p:cNvPr id="42" name="Rectangle 41"/>
            <p:cNvSpPr/>
            <p:nvPr/>
          </p:nvSpPr>
          <p:spPr>
            <a:xfrm>
              <a:off x="10259567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59567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40587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0587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FORMULA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05872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Hours ÷ 2000</a:t>
              </a:r>
              <a:r>
                <a:rPr lang="zh-CN" alt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endParaRPr sz="1000" b="0" dirty="0">
                <a:solidFill>
                  <a:srgbClr val="585858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93776" y="3703320"/>
            <a:ext cx="11100816" cy="1217471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B2D1A7A-444D-9A10-4786-F3941F4CC0FA}"/>
              </a:ext>
            </a:extLst>
          </p:cNvPr>
          <p:cNvGrpSpPr/>
          <p:nvPr/>
        </p:nvGrpSpPr>
        <p:grpSpPr>
          <a:xfrm>
            <a:off x="704088" y="3913632"/>
            <a:ext cx="1828800" cy="246888"/>
            <a:chOff x="704088" y="3913632"/>
            <a:chExt cx="1828800" cy="246888"/>
          </a:xfrm>
        </p:grpSpPr>
        <p:sp>
          <p:nvSpPr>
            <p:cNvPr id="48" name="Rectangle 47"/>
            <p:cNvSpPr/>
            <p:nvPr/>
          </p:nvSpPr>
          <p:spPr>
            <a:xfrm>
              <a:off x="704088" y="3913632"/>
              <a:ext cx="1828800" cy="246888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4088" y="3940127"/>
              <a:ext cx="1828800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QUANTIFIED IMPACT</a:t>
              </a:r>
              <a:r>
                <a:rPr sz="900" b="1" dirty="0">
                  <a:solidFill>
                    <a:schemeClr val="bg1"/>
                  </a:solidFill>
                  <a:latin typeface="+mn-lt"/>
                  <a:ea typeface="+mn-ea"/>
                </a:rPr>
                <a:t/>
              </a:r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6D88DF1-1569-9E2F-0867-E04D5B20171F}"/>
              </a:ext>
            </a:extLst>
          </p:cNvPr>
          <p:cNvGrpSpPr/>
          <p:nvPr/>
        </p:nvGrpSpPr>
        <p:grpSpPr>
          <a:xfrm>
            <a:off x="713232" y="4403139"/>
            <a:ext cx="1283541" cy="257699"/>
            <a:chOff x="731520" y="4294871"/>
            <a:chExt cx="1200073" cy="257699"/>
          </a:xfrm>
        </p:grpSpPr>
        <p:sp>
          <p:nvSpPr>
            <p:cNvPr id="50" name="Oval 49"/>
            <p:cNvSpPr/>
            <p:nvPr/>
          </p:nvSpPr>
          <p:spPr>
            <a:xfrm>
              <a:off x="73152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5255" y="4294871"/>
              <a:ext cx="1026338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Filing 90% · 0.14 FTE/yr</a:t>
              </a: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151218F-395E-F40D-8FFA-DDFFEF996A8C}"/>
              </a:ext>
            </a:extLst>
          </p:cNvPr>
          <p:cNvGrpSpPr/>
          <p:nvPr/>
        </p:nvGrpSpPr>
        <p:grpSpPr>
          <a:xfrm>
            <a:off x="2291522" y="4403139"/>
            <a:ext cx="2071689" cy="257699"/>
            <a:chOff x="3050514" y="4294871"/>
            <a:chExt cx="1936833" cy="257699"/>
          </a:xfrm>
        </p:grpSpPr>
        <p:sp>
          <p:nvSpPr>
            <p:cNvPr id="52" name="Oval 51"/>
            <p:cNvSpPr/>
            <p:nvPr/>
          </p:nvSpPr>
          <p:spPr>
            <a:xfrm>
              <a:off x="3050514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24251" y="4294871"/>
              <a:ext cx="1763096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Search 80% · 1.44 FTE/yr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BD79AF7-6C78-F684-2936-0B2D31C2C986}"/>
              </a:ext>
            </a:extLst>
          </p:cNvPr>
          <p:cNvGrpSpPr/>
          <p:nvPr/>
        </p:nvGrpSpPr>
        <p:grpSpPr>
          <a:xfrm>
            <a:off x="4634807" y="4403139"/>
            <a:ext cx="2341265" cy="257699"/>
            <a:chOff x="4275810" y="4295240"/>
            <a:chExt cx="2341265" cy="257699"/>
          </a:xfrm>
        </p:grpSpPr>
        <p:sp>
          <p:nvSpPr>
            <p:cNvPr id="54" name="Oval 53"/>
            <p:cNvSpPr/>
            <p:nvPr/>
          </p:nvSpPr>
          <p:spPr>
            <a:xfrm>
              <a:off x="427581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44573" y="4295240"/>
              <a:ext cx="217250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Titles 100% · 0.06 FTE/yr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2BC9ED7-62B7-0A5C-CABE-2B5A8F53AFF0}"/>
              </a:ext>
            </a:extLst>
          </p:cNvPr>
          <p:cNvGrpSpPr/>
          <p:nvPr/>
        </p:nvGrpSpPr>
        <p:grpSpPr>
          <a:xfrm>
            <a:off x="7147759" y="4403139"/>
            <a:ext cx="2285801" cy="257699"/>
            <a:chOff x="5596128" y="4297298"/>
            <a:chExt cx="2285801" cy="257699"/>
          </a:xfrm>
        </p:grpSpPr>
        <p:sp>
          <p:nvSpPr>
            <p:cNvPr id="56" name="Oval 55"/>
            <p:cNvSpPr/>
            <p:nvPr/>
          </p:nvSpPr>
          <p:spPr>
            <a:xfrm>
              <a:off x="5596128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67864" y="4297298"/>
              <a:ext cx="2114065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Attach 75% · 0.04 FTE/yr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5DA3FEF-C225-C37F-41E8-54974DE101BB}"/>
              </a:ext>
            </a:extLst>
          </p:cNvPr>
          <p:cNvGrpSpPr/>
          <p:nvPr/>
        </p:nvGrpSpPr>
        <p:grpSpPr>
          <a:xfrm>
            <a:off x="9599999" y="4403139"/>
            <a:ext cx="2643816" cy="257699"/>
            <a:chOff x="7820100" y="4285956"/>
            <a:chExt cx="2643816" cy="257699"/>
          </a:xfrm>
        </p:grpSpPr>
        <p:sp>
          <p:nvSpPr>
            <p:cNvPr id="58" name="Oval 57"/>
            <p:cNvSpPr/>
            <p:nvPr/>
          </p:nvSpPr>
          <p:spPr>
            <a:xfrm>
              <a:off x="782010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13324" y="4285956"/>
              <a:ext cx="245059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80 docs/wk · 150 FAE × 2 searches/wk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493776" y="5522976"/>
            <a:ext cx="11100816" cy="475488"/>
          </a:xfrm>
          <a:prstGeom prst="rect">
            <a:avLst/>
          </a:prstGeom>
          <a:solidFill>
            <a:srgbClr val="280078"/>
          </a:solidFill>
          <a:ln>
            <a:solidFill>
              <a:srgbClr val="2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3232" y="5611609"/>
            <a:ext cx="10661904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/>
                </a:solidFill>
                <a:cs typeface="Arial" panose="020B0604020202020204" pitchFamily="34" charset="0"/>
              </a:rPr>
              <a:t>Headline: backlog ~1 FTE-year already done; then ~1.7 FTE every year, mostly from finding past cases.</a:t>
            </a:r>
            <a:endParaRPr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7468" y="309241"/>
            <a:ext cx="1150400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spcBef>
                <a:spcPts val="615"/>
              </a:spcBef>
              <a:tabLst>
                <a:tab pos="3676650" algn="l"/>
              </a:tabLst>
            </a:pPr>
            <a:r>
              <a:rPr lang="zh-CN" altLang="en-US" sz="32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Quality Scoring | 25-Point Standard for Reusable FAE Knowledge</a:t>
            </a:r>
            <a:endParaRPr lang="en-US" altLang="zh-CN" sz="32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7" y="1248353"/>
            <a:ext cx="9784080" cy="338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Five weighted dimensions, score out of 25. AI must cite evidence, deductions, and fix suggestions.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E993498-A085-603A-0BDA-A0B1894F0A8B}"/>
              </a:ext>
            </a:extLst>
          </p:cNvPr>
          <p:cNvGrpSpPr/>
          <p:nvPr/>
        </p:nvGrpSpPr>
        <p:grpSpPr>
          <a:xfrm>
            <a:off x="493776" y="2048256"/>
            <a:ext cx="1335024" cy="1060704"/>
            <a:chOff x="493776" y="2048256"/>
            <a:chExt cx="1335024" cy="1060704"/>
          </a:xfrm>
        </p:grpSpPr>
        <p:sp>
          <p:nvSpPr>
            <p:cNvPr id="6" name="Rectangle 5"/>
            <p:cNvSpPr/>
            <p:nvPr/>
          </p:nvSpPr>
          <p:spPr>
            <a:xfrm>
              <a:off x="49377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3776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OPERABILITY</a:t>
              </a:r>
              <a:r>
                <a:rPr sz="1200" b="1" dirty="0">
                  <a:solidFill>
                    <a:srgbClr val="2D2D2D"/>
                  </a:solidFill>
                  <a:ea typeface="+mn-ea"/>
                  <a:cs typeface="Arial" panose="020B0604020202020204" pitchFamily="34" charset="0"/>
                </a:rPr>
                <a:t/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Weight 1.3 · steps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182880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0F8ECDE-4347-5E68-8F35-06E6E4449B66}"/>
              </a:ext>
            </a:extLst>
          </p:cNvPr>
          <p:cNvGrpSpPr/>
          <p:nvPr/>
        </p:nvGrpSpPr>
        <p:grpSpPr>
          <a:xfrm>
            <a:off x="2121408" y="2048256"/>
            <a:ext cx="1335024" cy="1060704"/>
            <a:chOff x="2121408" y="2048256"/>
            <a:chExt cx="1335024" cy="1060704"/>
          </a:xfrm>
        </p:grpSpPr>
        <p:sp>
          <p:nvSpPr>
            <p:cNvPr id="12" name="Rectangle 11"/>
            <p:cNvSpPr/>
            <p:nvPr/>
          </p:nvSpPr>
          <p:spPr>
            <a:xfrm>
              <a:off x="2121408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21408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6771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6771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COMPLETE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67712" y="2779776"/>
              <a:ext cx="1179575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Weight 1.2 · root cause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7" name="Connector 16"/>
          <p:cNvCxnSpPr/>
          <p:nvPr/>
        </p:nvCxnSpPr>
        <p:spPr>
          <a:xfrm>
            <a:off x="3456432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B987F07-8B39-205C-F242-695C6EAD9446}"/>
              </a:ext>
            </a:extLst>
          </p:cNvPr>
          <p:cNvGrpSpPr/>
          <p:nvPr/>
        </p:nvGrpSpPr>
        <p:grpSpPr>
          <a:xfrm>
            <a:off x="3749039" y="2048256"/>
            <a:ext cx="1335024" cy="1060704"/>
            <a:chOff x="3749039" y="2048256"/>
            <a:chExt cx="1335024" cy="1060704"/>
          </a:xfrm>
        </p:grpSpPr>
        <p:sp>
          <p:nvSpPr>
            <p:cNvPr id="18" name="Rectangle 17"/>
            <p:cNvSpPr/>
            <p:nvPr/>
          </p:nvSpPr>
          <p:spPr>
            <a:xfrm>
              <a:off x="3749039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749039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5344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344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READABLE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5344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Weight 1.0 · scan fast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cxnSp>
        <p:nvCxnSpPr>
          <p:cNvPr id="23" name="Connector 22"/>
          <p:cNvCxnSpPr/>
          <p:nvPr/>
        </p:nvCxnSpPr>
        <p:spPr>
          <a:xfrm>
            <a:off x="5084064" y="2578608"/>
            <a:ext cx="283463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EE0949-CF44-9AFD-E3A3-C100F75B5E99}"/>
              </a:ext>
            </a:extLst>
          </p:cNvPr>
          <p:cNvGrpSpPr/>
          <p:nvPr/>
        </p:nvGrpSpPr>
        <p:grpSpPr>
          <a:xfrm>
            <a:off x="5376672" y="2048256"/>
            <a:ext cx="1344167" cy="1060704"/>
            <a:chOff x="5376672" y="2048256"/>
            <a:chExt cx="1344167" cy="1060704"/>
          </a:xfrm>
        </p:grpSpPr>
        <p:sp>
          <p:nvSpPr>
            <p:cNvPr id="24" name="Rectangle 23"/>
            <p:cNvSpPr/>
            <p:nvPr/>
          </p:nvSpPr>
          <p:spPr>
            <a:xfrm>
              <a:off x="5376672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376672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22976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22976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DISTINCT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13832" y="2795165"/>
              <a:ext cx="1207007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Weight 0.8 · vs similar</a:t>
              </a:r>
              <a:r>
                <a:rPr sz="9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cxnSp>
        <p:nvCxnSpPr>
          <p:cNvPr id="29" name="Connector 28"/>
          <p:cNvCxnSpPr/>
          <p:nvPr/>
        </p:nvCxnSpPr>
        <p:spPr>
          <a:xfrm>
            <a:off x="6711696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23FF996-3485-4444-2DDC-FC353DEF004F}"/>
              </a:ext>
            </a:extLst>
          </p:cNvPr>
          <p:cNvGrpSpPr/>
          <p:nvPr/>
        </p:nvGrpSpPr>
        <p:grpSpPr>
          <a:xfrm>
            <a:off x="7004304" y="2048256"/>
            <a:ext cx="1335024" cy="1060704"/>
            <a:chOff x="7004304" y="2048256"/>
            <a:chExt cx="1335024" cy="1060704"/>
          </a:xfrm>
        </p:grpSpPr>
        <p:sp>
          <p:nvSpPr>
            <p:cNvPr id="30" name="Rectangle 29"/>
            <p:cNvSpPr/>
            <p:nvPr/>
          </p:nvSpPr>
          <p:spPr>
            <a:xfrm>
              <a:off x="7004304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004304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50608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50608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APPLICABLE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50608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Weight 0.7 · limits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cxnSp>
        <p:nvCxnSpPr>
          <p:cNvPr id="35" name="Connector 34"/>
          <p:cNvCxnSpPr/>
          <p:nvPr/>
        </p:nvCxnSpPr>
        <p:spPr>
          <a:xfrm>
            <a:off x="8339328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89EB3B1-284B-CE3E-2852-2BDFFF5B090D}"/>
              </a:ext>
            </a:extLst>
          </p:cNvPr>
          <p:cNvGrpSpPr/>
          <p:nvPr/>
        </p:nvGrpSpPr>
        <p:grpSpPr>
          <a:xfrm>
            <a:off x="8631936" y="2048256"/>
            <a:ext cx="1335024" cy="1060704"/>
            <a:chOff x="8631936" y="2048256"/>
            <a:chExt cx="1335024" cy="1060704"/>
          </a:xfrm>
        </p:grpSpPr>
        <p:sp>
          <p:nvSpPr>
            <p:cNvPr id="36" name="Rectangle 35"/>
            <p:cNvSpPr/>
            <p:nvPr/>
          </p:nvSpPr>
          <p:spPr>
            <a:xfrm>
              <a:off x="863193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631936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77824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06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77824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GRADE A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7824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S&gt;=20 · human review</a:t>
              </a:r>
              <a:r>
                <a:rPr 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/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41" name="Connector 40"/>
          <p:cNvCxnSpPr/>
          <p:nvPr/>
        </p:nvCxnSpPr>
        <p:spPr>
          <a:xfrm>
            <a:off x="996696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5FD0BDD-81ED-E816-319C-37D9C4FA6BB3}"/>
              </a:ext>
            </a:extLst>
          </p:cNvPr>
          <p:cNvGrpSpPr/>
          <p:nvPr/>
        </p:nvGrpSpPr>
        <p:grpSpPr>
          <a:xfrm>
            <a:off x="10259567" y="2048256"/>
            <a:ext cx="1335024" cy="1060704"/>
            <a:chOff x="10259567" y="2048256"/>
            <a:chExt cx="1335024" cy="1060704"/>
          </a:xfrm>
        </p:grpSpPr>
        <p:sp>
          <p:nvSpPr>
            <p:cNvPr id="42" name="Rectangle 41"/>
            <p:cNvSpPr/>
            <p:nvPr/>
          </p:nvSpPr>
          <p:spPr>
            <a:xfrm>
              <a:off x="10259567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59567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40587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0587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GRADE C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05872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S&lt;15 · do not publish</a:t>
              </a:r>
              <a:r>
                <a:rPr lang="zh-CN" alt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/>
              </a:r>
              <a:endParaRPr sz="1000" b="0" dirty="0">
                <a:solidFill>
                  <a:srgbClr val="585858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93776" y="3703320"/>
            <a:ext cx="11100816" cy="1217471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B2D1A7A-444D-9A10-4786-F3941F4CC0FA}"/>
              </a:ext>
            </a:extLst>
          </p:cNvPr>
          <p:cNvGrpSpPr/>
          <p:nvPr/>
        </p:nvGrpSpPr>
        <p:grpSpPr>
          <a:xfrm>
            <a:off x="704088" y="3913632"/>
            <a:ext cx="1828800" cy="246888"/>
            <a:chOff x="704088" y="3913632"/>
            <a:chExt cx="1828800" cy="246888"/>
          </a:xfrm>
        </p:grpSpPr>
        <p:sp>
          <p:nvSpPr>
            <p:cNvPr id="48" name="Rectangle 47"/>
            <p:cNvSpPr/>
            <p:nvPr/>
          </p:nvSpPr>
          <p:spPr>
            <a:xfrm>
              <a:off x="704088" y="3913632"/>
              <a:ext cx="1828800" cy="246888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4088" y="3940127"/>
              <a:ext cx="1828800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SCORING RULES</a:t>
              </a:r>
              <a:r>
                <a:rPr sz="900" b="1" dirty="0">
                  <a:solidFill>
                    <a:schemeClr val="bg1"/>
                  </a:solidFill>
                  <a:latin typeface="+mn-lt"/>
                  <a:ea typeface="+mn-ea"/>
                </a:rPr>
                <a:t/>
              </a:r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/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6D88DF1-1569-9E2F-0867-E04D5B20171F}"/>
              </a:ext>
            </a:extLst>
          </p:cNvPr>
          <p:cNvGrpSpPr/>
          <p:nvPr/>
        </p:nvGrpSpPr>
        <p:grpSpPr>
          <a:xfrm>
            <a:off x="713232" y="4403139"/>
            <a:ext cx="1283541" cy="257699"/>
            <a:chOff x="731520" y="4294871"/>
            <a:chExt cx="1200073" cy="257699"/>
          </a:xfrm>
        </p:grpSpPr>
        <p:sp>
          <p:nvSpPr>
            <p:cNvPr id="50" name="Oval 49"/>
            <p:cNvSpPr/>
            <p:nvPr/>
          </p:nvSpPr>
          <p:spPr>
            <a:xfrm>
              <a:off x="73152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5255" y="4294871"/>
              <a:ext cx="1026338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 / B / C: &gt;=20 / 15-20 / &lt;15</a:t>
              </a: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/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151218F-395E-F40D-8FFA-DDFFEF996A8C}"/>
              </a:ext>
            </a:extLst>
          </p:cNvPr>
          <p:cNvGrpSpPr/>
          <p:nvPr/>
        </p:nvGrpSpPr>
        <p:grpSpPr>
          <a:xfrm>
            <a:off x="2291522" y="4403139"/>
            <a:ext cx="2071689" cy="257699"/>
            <a:chOff x="3050514" y="4294871"/>
            <a:chExt cx="1936833" cy="257699"/>
          </a:xfrm>
        </p:grpSpPr>
        <p:sp>
          <p:nvSpPr>
            <p:cNvPr id="52" name="Oval 51"/>
            <p:cNvSpPr/>
            <p:nvPr/>
          </p:nvSpPr>
          <p:spPr>
            <a:xfrm>
              <a:off x="3050514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24251" y="4294871"/>
              <a:ext cx="1763096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Human confirms before External KB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BD79AF7-6C78-F684-2936-0B2D31C2C986}"/>
              </a:ext>
            </a:extLst>
          </p:cNvPr>
          <p:cNvGrpSpPr/>
          <p:nvPr/>
        </p:nvGrpSpPr>
        <p:grpSpPr>
          <a:xfrm>
            <a:off x="4634807" y="4403139"/>
            <a:ext cx="2341265" cy="257699"/>
            <a:chOff x="4275810" y="4295240"/>
            <a:chExt cx="2341265" cy="257699"/>
          </a:xfrm>
        </p:grpSpPr>
        <p:sp>
          <p:nvSpPr>
            <p:cNvPr id="54" name="Oval 53"/>
            <p:cNvSpPr/>
            <p:nvPr/>
          </p:nvSpPr>
          <p:spPr>
            <a:xfrm>
              <a:off x="427581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44573" y="4295240"/>
              <a:ext cx="217250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Rewrite optional; keep original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2BC9ED7-62B7-0A5C-CABE-2B5A8F53AFF0}"/>
              </a:ext>
            </a:extLst>
          </p:cNvPr>
          <p:cNvGrpSpPr/>
          <p:nvPr/>
        </p:nvGrpSpPr>
        <p:grpSpPr>
          <a:xfrm>
            <a:off x="7147759" y="4403139"/>
            <a:ext cx="2285801" cy="257699"/>
            <a:chOff x="5596128" y="4297298"/>
            <a:chExt cx="2285801" cy="257699"/>
          </a:xfrm>
        </p:grpSpPr>
        <p:sp>
          <p:nvSpPr>
            <p:cNvPr id="56" name="Oval 55"/>
            <p:cNvSpPr/>
            <p:nvPr/>
          </p:nvSpPr>
          <p:spPr>
            <a:xfrm>
              <a:off x="5596128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67864" y="4297298"/>
              <a:ext cx="2114065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Pilot ~100 docs, 20-30 gold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5DA3FEF-C225-C37F-41E8-54974DE101BB}"/>
              </a:ext>
            </a:extLst>
          </p:cNvPr>
          <p:cNvGrpSpPr/>
          <p:nvPr/>
        </p:nvGrpSpPr>
        <p:grpSpPr>
          <a:xfrm>
            <a:off x="9599999" y="4403139"/>
            <a:ext cx="2643816" cy="257699"/>
            <a:chOff x="7820100" y="4285956"/>
            <a:chExt cx="2643816" cy="257699"/>
          </a:xfrm>
        </p:grpSpPr>
        <p:sp>
          <p:nvSpPr>
            <p:cNvPr id="58" name="Oval 57"/>
            <p:cNvSpPr/>
            <p:nvPr/>
          </p:nvSpPr>
          <p:spPr>
            <a:xfrm>
              <a:off x="782010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13324" y="4285956"/>
              <a:ext cx="245059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 vs expert score + stability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493776" y="5522976"/>
            <a:ext cx="11100816" cy="475488"/>
          </a:xfrm>
          <a:prstGeom prst="rect">
            <a:avLst/>
          </a:prstGeom>
          <a:solidFill>
            <a:srgbClr val="280078"/>
          </a:solidFill>
          <a:ln>
            <a:solidFill>
              <a:srgbClr val="2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3232" y="5611609"/>
            <a:ext cx="10661904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/>
                </a:solidFill>
                <a:cs typeface="Arial" panose="020B0604020202020204" pitchFamily="34" charset="0"/>
              </a:rPr>
              <a:t>Classification puts knowledge in the right place. Scoring decides what is good enough to reuse or feed AI.</a:t>
            </a:r>
            <a:endParaRPr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ectel 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D60026"/>
        </a:solidFill>
        <a:ln w="19050" algn="ctr">
          <a:noFill/>
          <a:round/>
        </a:ln>
      </a:spPr>
      <a:bodyPr lIns="36000" tIns="0" rIns="36000" bIns="0" anchor="ctr"/>
      <a:lstStyle>
        <a:defPPr defTabSz="914400" eaLnBrk="1" hangingPunct="1">
          <a:defRPr sz="1600" b="1" dirty="0" smtClean="0">
            <a:solidFill>
              <a:srgbClr val="FFFFFF"/>
            </a:solidFill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70a1ae-a61b-4831-96e4-864e613b966d">
      <Terms xmlns="http://schemas.microsoft.com/office/infopath/2007/PartnerControls"/>
    </lcf76f155ced4ddcb4097134ff3c332f>
    <TaxCatchAll xmlns="e38536ed-07c0-4176-b410-dc42a868a3bf" xsi:nil="true"/>
    <SharedWithUsers xmlns="d043ebee-eb47-4340-b1a5-769fdb9d1b42">
      <UserInfo>
        <DisplayName>America Team</DisplayName>
        <AccountId>235</AccountId>
        <AccountType/>
      </UserInfo>
      <UserInfo>
        <DisplayName>Mike Zhou</DisplayName>
        <AccountId>614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8D9CCEE6135F84A8B5B73021AAD3C7F" ma:contentTypeVersion="17" ma:contentTypeDescription="新建文档。" ma:contentTypeScope="" ma:versionID="f191f7cf669fb9db3a35484295048af4">
  <xsd:schema xmlns:xsd="http://www.w3.org/2001/XMLSchema" xmlns:xs="http://www.w3.org/2001/XMLSchema" xmlns:p="http://schemas.microsoft.com/office/2006/metadata/properties" xmlns:ns2="2770a1ae-a61b-4831-96e4-864e613b966d" xmlns:ns3="d043ebee-eb47-4340-b1a5-769fdb9d1b42" xmlns:ns4="e38536ed-07c0-4176-b410-dc42a868a3bf" targetNamespace="http://schemas.microsoft.com/office/2006/metadata/properties" ma:root="true" ma:fieldsID="1a51c2a02fc8def36c00acf25b053dda" ns2:_="" ns3:_="" ns4:_="">
    <xsd:import namespace="2770a1ae-a61b-4831-96e4-864e613b966d"/>
    <xsd:import namespace="d043ebee-eb47-4340-b1a5-769fdb9d1b42"/>
    <xsd:import namespace="e38536ed-07c0-4176-b410-dc42a868a3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0a1ae-a61b-4831-96e4-864e613b96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图像标记" ma:readOnly="false" ma:fieldId="{5cf76f15-5ced-4ddc-b409-7134ff3c332f}" ma:taxonomyMulti="true" ma:sspId="2a185091-055e-4356-9656-7bd636c634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43ebee-eb47-4340-b1a5-769fdb9d1b4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536ed-07c0-4176-b410-dc42a868a3bf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3f3d145f-0468-4af3-84c4-6205a0ac8e98}" ma:internalName="TaxCatchAll" ma:showField="CatchAllData" ma:web="e38536ed-07c0-4176-b410-dc42a868a3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6ABB82-C82E-40D8-A82E-28DAF77850C0}">
  <ds:schemaRefs>
    <ds:schemaRef ds:uri="http://schemas.microsoft.com/office/2006/metadata/properties"/>
    <ds:schemaRef ds:uri="http://schemas.microsoft.com/office/infopath/2007/PartnerControls"/>
    <ds:schemaRef ds:uri="f561efc3-6748-49b4-9cc6-899a564f6ce8"/>
    <ds:schemaRef ds:uri="bedc9d18-4970-4b12-83cc-233353d6627c"/>
    <ds:schemaRef ds:uri="75f1442e-767b-4ebf-852b-08d17ee88c1e"/>
    <ds:schemaRef ds:uri="dc995c95-3981-445c-afbd-21b7603ccc62"/>
    <ds:schemaRef ds:uri="2770a1ae-a61b-4831-96e4-864e613b966d"/>
    <ds:schemaRef ds:uri="e38536ed-07c0-4176-b410-dc42a868a3bf"/>
    <ds:schemaRef ds:uri="d043ebee-eb47-4340-b1a5-769fdb9d1b42"/>
  </ds:schemaRefs>
</ds:datastoreItem>
</file>

<file path=customXml/itemProps2.xml><?xml version="1.0" encoding="utf-8"?>
<ds:datastoreItem xmlns:ds="http://schemas.openxmlformats.org/officeDocument/2006/customXml" ds:itemID="{9DBA7EA7-F7CC-46A8-88E7-8B5D8FA939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80F0F-23E3-462A-A251-BF24FA15C5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70a1ae-a61b-4831-96e4-864e613b966d"/>
    <ds:schemaRef ds:uri="d043ebee-eb47-4340-b1a5-769fdb9d1b42"/>
    <ds:schemaRef ds:uri="e38536ed-07c0-4176-b410-dc42a868a3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自定义</PresentationFormat>
  <Paragraphs>122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黑体</vt:lpstr>
      <vt:lpstr>Microsoft YaHei</vt:lpstr>
      <vt:lpstr>Arial</vt:lpstr>
      <vt:lpstr>Calibri</vt:lpstr>
      <vt:lpstr>Verdana</vt:lpstr>
      <vt:lpstr>Quectel Main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FAE Sharing Intelligence Platform Project v2</dc:title>
  <dc:subject>English localization; original layout retained</dc:subject>
  <dc:creator/>
  <cp:lastModifiedBy/>
  <cp:revision>9</cp:revision>
  <dcterms:created xsi:type="dcterms:W3CDTF">2023-12-01T09:55:55Z</dcterms:created>
  <dcterms:modified xsi:type="dcterms:W3CDTF">2026-07-15T06:10:11Z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0x010100B695675CB270A84F99F43769CBC268DF</vt:lpwstr>
  </property>
  <property fmtid="{D5CDD505-2E9C-101B-9397-08002B2CF9AE}" pid="3" name="MediaServiceImageTags">
    <vt:lpwstr/>
  </property>
</Properties>
</file>